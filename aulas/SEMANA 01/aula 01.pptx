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43"/>
  </p:notesMasterIdLst>
  <p:sldIdLst>
    <p:sldId id="333" r:id="rId2"/>
    <p:sldId id="356" r:id="rId3"/>
    <p:sldId id="357" r:id="rId4"/>
    <p:sldId id="358" r:id="rId5"/>
    <p:sldId id="359" r:id="rId6"/>
    <p:sldId id="360" r:id="rId7"/>
    <p:sldId id="361" r:id="rId8"/>
    <p:sldId id="387" r:id="rId9"/>
    <p:sldId id="362" r:id="rId10"/>
    <p:sldId id="363" r:id="rId11"/>
    <p:sldId id="364" r:id="rId12"/>
    <p:sldId id="365" r:id="rId13"/>
    <p:sldId id="367" r:id="rId14"/>
    <p:sldId id="366" r:id="rId15"/>
    <p:sldId id="372" r:id="rId16"/>
    <p:sldId id="368" r:id="rId17"/>
    <p:sldId id="370" r:id="rId18"/>
    <p:sldId id="369" r:id="rId19"/>
    <p:sldId id="373" r:id="rId20"/>
    <p:sldId id="371" r:id="rId21"/>
    <p:sldId id="374" r:id="rId22"/>
    <p:sldId id="388" r:id="rId23"/>
    <p:sldId id="375" r:id="rId24"/>
    <p:sldId id="389" r:id="rId25"/>
    <p:sldId id="390" r:id="rId26"/>
    <p:sldId id="391" r:id="rId27"/>
    <p:sldId id="392" r:id="rId28"/>
    <p:sldId id="279" r:id="rId29"/>
    <p:sldId id="393" r:id="rId30"/>
    <p:sldId id="394" r:id="rId31"/>
    <p:sldId id="376" r:id="rId32"/>
    <p:sldId id="377" r:id="rId33"/>
    <p:sldId id="395" r:id="rId34"/>
    <p:sldId id="379" r:id="rId35"/>
    <p:sldId id="378" r:id="rId36"/>
    <p:sldId id="380" r:id="rId37"/>
    <p:sldId id="381" r:id="rId38"/>
    <p:sldId id="382" r:id="rId39"/>
    <p:sldId id="386" r:id="rId40"/>
    <p:sldId id="384" r:id="rId41"/>
    <p:sldId id="385" r:id="rId42"/>
  </p:sldIdLst>
  <p:sldSz cx="12192000" cy="6858000"/>
  <p:notesSz cx="6797675" cy="992663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3" roundtripDataSignature="AMtx7mjQsprurraFm3Yw76enw9q9vkGc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439"/>
    <p:restoredTop sz="94754"/>
  </p:normalViewPr>
  <p:slideViewPr>
    <p:cSldViewPr snapToGrid="0" snapToObjects="1">
      <p:cViewPr varScale="1">
        <p:scale>
          <a:sx n="92" d="100"/>
          <a:sy n="92" d="100"/>
        </p:scale>
        <p:origin x="17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73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7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33150" y="744475"/>
            <a:ext cx="4532000" cy="37224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50" y="4715125"/>
            <a:ext cx="5438125" cy="446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DF7CA0-77B3-EC8C-727C-E9D5D47273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BC8B1D-8042-0ED7-4BB5-701E56BD35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A6377B-23BE-71A8-93C8-22B10ECF3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59251-A7FE-F241-A2A7-3D1D7D16D6D8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35FFA5-38C2-22E4-8DD0-1075C7F8E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15F2AE-DE1A-3BCE-7C2C-F9D52E377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DC6B1-C372-864D-87D1-D23041ECC0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827861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A85D21-85B1-D55D-5CDA-666E0DE63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B9935B-86D4-7B57-AA82-F250D013F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8AAAB8-C1AE-0991-B024-82362846F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59251-A7FE-F241-A2A7-3D1D7D16D6D8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3B415F-A3BF-CEEC-2058-273E00259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4455A0-D99C-C19D-63D8-AFE34E762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DC6B1-C372-864D-87D1-D23041ECC0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202826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4E54E6-B3BC-9E94-5529-5DBF98F3D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6C24483-F55C-47E5-8CF7-C013DAFF0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4C2D5A-AAF2-BB15-0782-9F3F3213B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59251-A7FE-F241-A2A7-3D1D7D16D6D8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6AB5CD-AC3E-BDE4-68EB-6A2C8A299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CA631F-5056-4CB7-4350-C45FE571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DC6B1-C372-864D-87D1-D23041ECC0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120923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EFC022-8698-7D8C-5500-88EC5D86A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D18774-AF19-6C24-F31C-0204340D55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56D156D-7770-7B7C-9526-D9B640330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9902F24-4EBF-568B-5FFE-B4FC45E72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59251-A7FE-F241-A2A7-3D1D7D16D6D8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0C00C39-13B5-D8A0-D18C-45C0B5D98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C2AB091-2475-899C-31DB-696265B0E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DC6B1-C372-864D-87D1-D23041ECC0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813606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966D5E-93DA-F15C-CFCC-CA11744A6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E4DBCB5-9A8C-BF88-548A-104F06194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1D67906-AA60-7F2D-DCA0-91D9A275E4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C3BAA0B-FABD-965A-C63E-68BBF71C73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0F5569B-8A28-C993-3618-70BF5DA80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B8E10C0-C42B-2DB7-42E9-E1EAE04FC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59251-A7FE-F241-A2A7-3D1D7D16D6D8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57445F1-C8EC-3E66-4CB7-EFE5087D9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1A58EFB-6B30-161A-7E77-54EDE41DD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DC6B1-C372-864D-87D1-D23041ECC0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754498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D37C92-C31F-AEC3-D5CF-834877B91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64273C1-1092-DB12-286D-2D46EF721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59251-A7FE-F241-A2A7-3D1D7D16D6D8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BDC3A2E-73E0-0479-3C23-9A4589A55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0BB09A6-F740-0D14-5419-FA400AB9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DC6B1-C372-864D-87D1-D23041ECC0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165894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293F384-5A8D-B147-D13F-95D16EDCC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59251-A7FE-F241-A2A7-3D1D7D16D6D8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2CE1C3C-6F5B-14B7-7499-C6CA4CFE7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0F3A33E-2FA3-541B-B401-63EEC779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DC6B1-C372-864D-87D1-D23041ECC0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88634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AD542-6325-C938-8A8F-8C3070A8B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C5B1A5-44BA-24C7-C96D-72B236AE0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20472AB-A034-FC09-27ED-7BFF9DFC3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88E0D58-22E2-A477-458E-0B6FC2B6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59251-A7FE-F241-A2A7-3D1D7D16D6D8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BAF09C-ADA9-388D-E186-00B74E4C2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F9FB3CE-A0EC-3FF3-6F6A-AF90F3D85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DC6B1-C372-864D-87D1-D23041ECC0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335780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84ECA4-5D45-1DDF-3406-9C7071A88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CB7ADD0-4BD6-EE7E-10F5-56D8CD4095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69F6EAC-5111-5940-086D-C3873D952D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2FC8151-4BEF-EA03-D25A-D7C72563C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59251-A7FE-F241-A2A7-3D1D7D16D6D8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4845A7-C03B-0259-63A4-90D2F8F61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EDB9EE1-A165-1B25-83FB-038A534B7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DC6B1-C372-864D-87D1-D23041ECC0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059696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F0E654-0634-AB74-F031-2A440FC8B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92B963-D181-5A92-3D2C-25B5E34039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D97655-154A-3B4B-74C4-659E68B62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59251-A7FE-F241-A2A7-3D1D7D16D6D8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AD775B-AF18-0CF2-544D-9DCB70883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8C46BE-87BC-A238-FF22-DBB69B624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DC6B1-C372-864D-87D1-D23041ECC0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27583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04E0015-87CF-6DA1-DACB-CD06D26258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7679F8E-0C74-CB93-FBE9-DCE14FA95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62B934-FE7A-D05A-EC36-50E6A088D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59251-A7FE-F241-A2A7-3D1D7D16D6D8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F888F3-69FA-7AE6-B79C-F297A61B5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76348C-DD00-15AC-2016-82F3F7113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DC6B1-C372-864D-87D1-D23041ECC0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487023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exto">
  <p:cSld name="1_Text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>
            <a:spLocks noGrp="1"/>
          </p:cNvSpPr>
          <p:nvPr>
            <p:ph type="title"/>
          </p:nvPr>
        </p:nvSpPr>
        <p:spPr>
          <a:xfrm>
            <a:off x="2896802" y="1358537"/>
            <a:ext cx="6681057" cy="3030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77A4"/>
              </a:buClr>
              <a:buSzPts val="5000"/>
              <a:buFont typeface="Calibri"/>
              <a:buNone/>
              <a:defRPr sz="5000" b="1" i="0" u="none" strike="noStrike" cap="none">
                <a:solidFill>
                  <a:srgbClr val="3D77A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body" idx="1"/>
          </p:nvPr>
        </p:nvSpPr>
        <p:spPr>
          <a:xfrm>
            <a:off x="3643698" y="4666816"/>
            <a:ext cx="5187264" cy="271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D77A4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D77A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66CB90C-1F93-DD4B-86CB-D4440426BBA4}"/>
              </a:ext>
            </a:extLst>
          </p:cNvPr>
          <p:cNvSpPr txBox="1"/>
          <p:nvPr userDrawn="1"/>
        </p:nvSpPr>
        <p:spPr>
          <a:xfrm>
            <a:off x="103103" y="6287539"/>
            <a:ext cx="100960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aseline="0" dirty="0">
                <a:solidFill>
                  <a:schemeClr val="bg1"/>
                </a:solidFill>
              </a:rPr>
              <a:t>Análise e Desenvolvimento de Sistemas – Front </a:t>
            </a:r>
            <a:r>
              <a:rPr lang="pt-BR" sz="2400" baseline="0" dirty="0" err="1">
                <a:solidFill>
                  <a:schemeClr val="bg1"/>
                </a:solidFill>
              </a:rPr>
              <a:t>end</a:t>
            </a:r>
            <a:r>
              <a:rPr lang="pt-BR" sz="2400" baseline="0" dirty="0">
                <a:solidFill>
                  <a:schemeClr val="bg1"/>
                </a:solidFill>
              </a:rPr>
              <a:t> - João </a:t>
            </a:r>
            <a:r>
              <a:rPr lang="pt-BR" sz="2400" baseline="0" dirty="0" err="1">
                <a:solidFill>
                  <a:schemeClr val="bg1"/>
                </a:solidFill>
              </a:rPr>
              <a:t>Choma</a:t>
            </a:r>
            <a:r>
              <a:rPr lang="pt-BR" sz="2400" baseline="0" dirty="0">
                <a:solidFill>
                  <a:schemeClr val="bg1"/>
                </a:solidFill>
              </a:rPr>
              <a:t> Neto</a:t>
            </a:r>
          </a:p>
        </p:txBody>
      </p:sp>
    </p:spTree>
    <p:extLst>
      <p:ext uri="{BB962C8B-B14F-4D97-AF65-F5344CB8AC3E}">
        <p14:creationId xmlns:p14="http://schemas.microsoft.com/office/powerpoint/2010/main" val="3518762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14B5413-E385-F8FD-4EF3-538A023C1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6AD5A3C-A9A2-26F5-15AA-E20B7A3A8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17CC2F-E73F-1AF1-FE9B-F4BA52AA85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A59251-A7FE-F241-A2A7-3D1D7D16D6D8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17C749-06EE-4490-208D-B1F9480C66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5F584A-C9A7-BD1F-1148-381886684D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DC6B1-C372-864D-87D1-D23041ECC0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0883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profslusos.blogspot.com/2017/11/aqui-esta-uma-proposta-com-sentido.html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9E7451-2E6D-6648-B858-69C033B6B9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Experiência Profissional 2026 — Desenvolvimento de Aplicações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4D2191-A1B7-9644-9236-EF2A02A876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João Choma Neto</a:t>
            </a:r>
          </a:p>
        </p:txBody>
      </p:sp>
    </p:spTree>
    <p:extLst>
      <p:ext uri="{BB962C8B-B14F-4D97-AF65-F5344CB8AC3E}">
        <p14:creationId xmlns:p14="http://schemas.microsoft.com/office/powerpoint/2010/main" val="1095653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B5AE64-5CF2-4CEC-3019-207F62527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Arquitetura de um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3BDDE4-B7D6-1480-FAB0-DD25163BD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4400" b="0" i="0" dirty="0">
                <a:solidFill>
                  <a:srgbClr val="374151"/>
                </a:solidFill>
                <a:effectLst/>
              </a:rPr>
              <a:t>O projeto de arquitetura de software abrange</a:t>
            </a:r>
          </a:p>
          <a:p>
            <a:pPr lvl="1"/>
            <a:r>
              <a:rPr lang="pt-BR" sz="4000" b="0" i="0" dirty="0">
                <a:solidFill>
                  <a:srgbClr val="374151"/>
                </a:solidFill>
                <a:effectLst/>
              </a:rPr>
              <a:t>concepção inicial do sistema até sua implementação</a:t>
            </a:r>
          </a:p>
          <a:p>
            <a:pPr lvl="1"/>
            <a:r>
              <a:rPr lang="pt-BR" sz="4000" b="0" i="0" dirty="0">
                <a:solidFill>
                  <a:srgbClr val="374151"/>
                </a:solidFill>
                <a:effectLst/>
              </a:rPr>
              <a:t>Manutenção</a:t>
            </a:r>
          </a:p>
          <a:p>
            <a:pPr lvl="1"/>
            <a:r>
              <a:rPr lang="pt-BR" sz="4000" dirty="0">
                <a:solidFill>
                  <a:srgbClr val="374151"/>
                </a:solidFill>
              </a:rPr>
              <a:t>E</a:t>
            </a:r>
            <a:r>
              <a:rPr lang="pt-BR" sz="4000" b="0" i="0" dirty="0">
                <a:solidFill>
                  <a:srgbClr val="374151"/>
                </a:solidFill>
                <a:effectLst/>
              </a:rPr>
              <a:t>volução e atualizações ao longo do tempo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7804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6EAB1B-5D5B-2F63-46C1-13CE28227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Um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76D490-12F3-F456-5E71-3FB148C13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4000" dirty="0">
                <a:solidFill>
                  <a:srgbClr val="374151"/>
                </a:solidFill>
              </a:rPr>
              <a:t>F</a:t>
            </a:r>
            <a:r>
              <a:rPr lang="pt-BR" sz="4000" b="0" i="0" dirty="0">
                <a:solidFill>
                  <a:srgbClr val="374151"/>
                </a:solidFill>
                <a:effectLst/>
              </a:rPr>
              <a:t>ornece uma estrutura organizacional para o sistema</a:t>
            </a:r>
          </a:p>
          <a:p>
            <a:r>
              <a:rPr lang="pt-BR" sz="4000" dirty="0">
                <a:solidFill>
                  <a:srgbClr val="374151"/>
                </a:solidFill>
              </a:rPr>
              <a:t>Definições de:</a:t>
            </a:r>
          </a:p>
          <a:p>
            <a:pPr lvl="1"/>
            <a:r>
              <a:rPr lang="pt-BR" sz="3600" dirty="0">
                <a:solidFill>
                  <a:srgbClr val="374151"/>
                </a:solidFill>
              </a:rPr>
              <a:t>D</a:t>
            </a:r>
            <a:r>
              <a:rPr lang="pt-BR" sz="3600" b="0" i="0" dirty="0">
                <a:solidFill>
                  <a:srgbClr val="374151"/>
                </a:solidFill>
                <a:effectLst/>
              </a:rPr>
              <a:t>efinindo os componentes principais</a:t>
            </a:r>
          </a:p>
          <a:p>
            <a:pPr lvl="1"/>
            <a:r>
              <a:rPr lang="pt-BR" sz="3600" dirty="0">
                <a:solidFill>
                  <a:srgbClr val="374151"/>
                </a:solidFill>
              </a:rPr>
              <a:t>R</a:t>
            </a:r>
            <a:r>
              <a:rPr lang="pt-BR" sz="3600" b="0" i="0" dirty="0">
                <a:solidFill>
                  <a:srgbClr val="374151"/>
                </a:solidFill>
                <a:effectLst/>
              </a:rPr>
              <a:t>esponsabilidades dos componentes</a:t>
            </a:r>
          </a:p>
          <a:p>
            <a:pPr lvl="1"/>
            <a:r>
              <a:rPr lang="pt-BR" sz="3600" dirty="0">
                <a:solidFill>
                  <a:srgbClr val="374151"/>
                </a:solidFill>
              </a:rPr>
              <a:t>Interação entre componentes</a:t>
            </a:r>
          </a:p>
        </p:txBody>
      </p:sp>
    </p:spTree>
    <p:extLst>
      <p:ext uri="{BB962C8B-B14F-4D97-AF65-F5344CB8AC3E}">
        <p14:creationId xmlns:p14="http://schemas.microsoft.com/office/powerpoint/2010/main" val="3862968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6EAB1B-5D5B-2F63-46C1-13CE28227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Uma das razões do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76D490-12F3-F456-5E71-3FB148C13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sz="4400" b="0" i="0" dirty="0">
                <a:solidFill>
                  <a:srgbClr val="374151"/>
                </a:solidFill>
                <a:effectLst/>
                <a:highlight>
                  <a:srgbClr val="FFFF00"/>
                </a:highlight>
              </a:rPr>
              <a:t>COMUNICAÇÃO</a:t>
            </a:r>
          </a:p>
          <a:p>
            <a:pPr lvl="1"/>
            <a:r>
              <a:rPr lang="pt-BR" sz="4000" b="0" i="0" dirty="0">
                <a:solidFill>
                  <a:srgbClr val="374151"/>
                </a:solidFill>
                <a:effectLst/>
              </a:rPr>
              <a:t>A definição do projeto permite gerenciar a complexidade do sistema</a:t>
            </a:r>
          </a:p>
          <a:p>
            <a:pPr lvl="1"/>
            <a:r>
              <a:rPr lang="pt-BR" sz="4000" dirty="0">
                <a:solidFill>
                  <a:srgbClr val="374151"/>
                </a:solidFill>
              </a:rPr>
              <a:t>Permite </a:t>
            </a:r>
            <a:r>
              <a:rPr lang="pt-BR" sz="4000" b="0" i="0" dirty="0">
                <a:solidFill>
                  <a:srgbClr val="374151"/>
                </a:solidFill>
                <a:effectLst/>
              </a:rPr>
              <a:t>que desenvolvedores e projetistas compreendam e trabalhem em partes específicas do sistema de forma isolada</a:t>
            </a:r>
          </a:p>
          <a:p>
            <a:pPr lvl="1"/>
            <a:r>
              <a:rPr lang="pt-BR" sz="4000" dirty="0">
                <a:solidFill>
                  <a:srgbClr val="374151"/>
                </a:solidFill>
              </a:rPr>
              <a:t>Permite o desenvolvimento serializado e paralelo</a:t>
            </a:r>
            <a:r>
              <a:rPr lang="pt-BR" sz="4000" b="0" i="0" dirty="0">
                <a:solidFill>
                  <a:srgbClr val="374151"/>
                </a:solidFill>
                <a:effectLst/>
              </a:rPr>
              <a:t>, ao mesmo tempo em que mantêm uma visão do conjunto coeso.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403197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EACF55-C1D8-5801-FC90-B2B497289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assim comunicação?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C2C9ED-BE42-B2CB-1F9A-688588A1F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 dirty="0">
                <a:solidFill>
                  <a:srgbClr val="374151"/>
                </a:solidFill>
              </a:rPr>
              <a:t>A</a:t>
            </a:r>
            <a:r>
              <a:rPr lang="pt-BR" sz="3600" b="0" i="0" dirty="0">
                <a:solidFill>
                  <a:srgbClr val="374151"/>
                </a:solidFill>
                <a:effectLst/>
              </a:rPr>
              <a:t>rtefato de comunicação entre todos os stakeholders envolvidos no projeto:</a:t>
            </a:r>
          </a:p>
          <a:p>
            <a:pPr lvl="1"/>
            <a:r>
              <a:rPr lang="pt-BR" sz="3200" b="0" i="0" dirty="0">
                <a:solidFill>
                  <a:srgbClr val="374151"/>
                </a:solidFill>
                <a:effectLst/>
              </a:rPr>
              <a:t>Desenvolvedores</a:t>
            </a:r>
          </a:p>
          <a:p>
            <a:pPr lvl="1"/>
            <a:r>
              <a:rPr lang="pt-BR" sz="3200" dirty="0">
                <a:solidFill>
                  <a:srgbClr val="374151"/>
                </a:solidFill>
              </a:rPr>
              <a:t>G</a:t>
            </a:r>
            <a:r>
              <a:rPr lang="pt-BR" sz="3200" b="0" i="0" dirty="0">
                <a:solidFill>
                  <a:srgbClr val="374151"/>
                </a:solidFill>
                <a:effectLst/>
              </a:rPr>
              <a:t>erentes de projeto</a:t>
            </a:r>
          </a:p>
          <a:p>
            <a:pPr lvl="1"/>
            <a:r>
              <a:rPr lang="pt-BR" sz="3200" dirty="0">
                <a:solidFill>
                  <a:srgbClr val="374151"/>
                </a:solidFill>
              </a:rPr>
              <a:t>A</a:t>
            </a:r>
            <a:r>
              <a:rPr lang="pt-BR" sz="3200" b="0" i="0" dirty="0">
                <a:solidFill>
                  <a:srgbClr val="374151"/>
                </a:solidFill>
                <a:effectLst/>
              </a:rPr>
              <a:t>nalistas de negócios</a:t>
            </a:r>
          </a:p>
          <a:p>
            <a:pPr lvl="1"/>
            <a:r>
              <a:rPr lang="pt-BR" sz="3200" dirty="0">
                <a:solidFill>
                  <a:srgbClr val="374151"/>
                </a:solidFill>
              </a:rPr>
              <a:t>Scrum master</a:t>
            </a:r>
          </a:p>
          <a:p>
            <a:pPr lvl="1"/>
            <a:r>
              <a:rPr lang="pt-BR" sz="3200" b="0" i="0" dirty="0">
                <a:solidFill>
                  <a:srgbClr val="374151"/>
                </a:solidFill>
                <a:effectLst/>
              </a:rPr>
              <a:t>PO</a:t>
            </a:r>
          </a:p>
          <a:p>
            <a:pPr lvl="1"/>
            <a:r>
              <a:rPr lang="pt-BR" sz="3200" dirty="0">
                <a:solidFill>
                  <a:srgbClr val="374151"/>
                </a:solidFill>
              </a:rPr>
              <a:t>C</a:t>
            </a:r>
            <a:r>
              <a:rPr lang="pt-BR" sz="3200" b="0" i="0" dirty="0">
                <a:solidFill>
                  <a:srgbClr val="374151"/>
                </a:solidFill>
                <a:effectLst/>
              </a:rPr>
              <a:t>lientes</a:t>
            </a:r>
          </a:p>
        </p:txBody>
      </p:sp>
    </p:spTree>
    <p:extLst>
      <p:ext uri="{BB962C8B-B14F-4D97-AF65-F5344CB8AC3E}">
        <p14:creationId xmlns:p14="http://schemas.microsoft.com/office/powerpoint/2010/main" val="3821478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EACF55-C1D8-5801-FC90-B2B497289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assim comunicação?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C2C9ED-BE42-B2CB-1F9A-688588A1F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4000" b="0" i="0" dirty="0">
                <a:solidFill>
                  <a:srgbClr val="374151"/>
                </a:solidFill>
                <a:effectLst/>
              </a:rPr>
              <a:t>Uma arquitetura bem definida facilita o entendimento comum dos objetivos do sistema, suas capacidades, limitações</a:t>
            </a:r>
          </a:p>
          <a:p>
            <a:r>
              <a:rPr lang="pt-BR" sz="4000" b="0" i="0" dirty="0">
                <a:solidFill>
                  <a:srgbClr val="374151"/>
                </a:solidFill>
                <a:effectLst/>
              </a:rPr>
              <a:t>Ajuda a alinhar as expectativas</a:t>
            </a:r>
          </a:p>
          <a:p>
            <a:r>
              <a:rPr lang="pt-BR" sz="4000" dirty="0">
                <a:solidFill>
                  <a:srgbClr val="374151"/>
                </a:solidFill>
              </a:rPr>
              <a:t>Ajuda a</a:t>
            </a:r>
            <a:r>
              <a:rPr lang="pt-BR" sz="4000" b="0" i="0" dirty="0">
                <a:solidFill>
                  <a:srgbClr val="374151"/>
                </a:solidFill>
                <a:effectLst/>
              </a:rPr>
              <a:t> reduzir mal-entendidos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689750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4F4832-B478-2A83-2E8C-BF3869E3C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pt-BR" sz="4000" dirty="0"/>
              <a:t>ESCOLHAS</a:t>
            </a:r>
          </a:p>
        </p:txBody>
      </p: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Escolhas - Meme by viic :) Memedroid">
            <a:extLst>
              <a:ext uri="{FF2B5EF4-FFF2-40B4-BE49-F238E27FC236}">
                <a16:creationId xmlns:a16="http://schemas.microsoft.com/office/drawing/2014/main" id="{C532B40E-E778-7C62-CA7E-C03C918752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0" r="4" b="675"/>
          <a:stretch/>
        </p:blipFill>
        <p:spPr bwMode="auto">
          <a:xfrm>
            <a:off x="5977788" y="799352"/>
            <a:ext cx="5425410" cy="525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1EF5BD8A-AE15-4ADF-F188-8EC6494EA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  <a:p>
            <a:endParaRPr lang="pt-BR" dirty="0"/>
          </a:p>
          <a:p>
            <a:r>
              <a:rPr lang="pt-BR" dirty="0"/>
              <a:t>Preciso tomar decisão</a:t>
            </a:r>
          </a:p>
        </p:txBody>
      </p:sp>
    </p:spTree>
    <p:extLst>
      <p:ext uri="{BB962C8B-B14F-4D97-AF65-F5344CB8AC3E}">
        <p14:creationId xmlns:p14="http://schemas.microsoft.com/office/powerpoint/2010/main" val="268146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BF0EFC-61E5-727F-DFA9-A8A8DF330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Escolhas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A9AB63BB-A2A4-7CC9-B73E-73E5040B5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pt-BR" sz="32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Antes de codificar e implementar detalhes específicos, o projeto de arquitetura permite que as equipes avaliem diferentes abordagens e tomem decisões informadas sobre as melhores estratégias</a:t>
            </a:r>
            <a:endParaRPr lang="pt-BR" sz="4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416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223E09-F16C-55FF-EA28-48B544CC9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ESCOLHAS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693765-ED61-D094-83F1-A8D3627A9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sz="3200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ecnologias</a:t>
            </a:r>
          </a:p>
          <a:p>
            <a:r>
              <a:rPr lang="pt-BR" sz="32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padrões de </a:t>
            </a:r>
            <a:r>
              <a:rPr lang="pt-BR" sz="3200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projeto</a:t>
            </a:r>
          </a:p>
          <a:p>
            <a:r>
              <a:rPr lang="pt-BR" sz="32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APIs</a:t>
            </a:r>
            <a:endParaRPr lang="pt-BR" sz="3200" dirty="0">
              <a:solidFill>
                <a:srgbClr val="37415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3200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equisitos conflitantes</a:t>
            </a:r>
          </a:p>
          <a:p>
            <a:r>
              <a:rPr lang="pt-BR" sz="32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Desempenho</a:t>
            </a:r>
          </a:p>
          <a:p>
            <a:r>
              <a:rPr lang="pt-BR" sz="3200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egurança</a:t>
            </a:r>
          </a:p>
          <a:p>
            <a:r>
              <a:rPr lang="pt-BR" sz="3200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scalabilidade </a:t>
            </a:r>
          </a:p>
          <a:p>
            <a:r>
              <a:rPr lang="pt-BR" sz="32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Custo.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619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45AC9B-E571-620D-EA77-9CCC26D76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DB8920-5578-6BF1-400E-D87316374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4000" b="0" i="0" dirty="0">
                <a:solidFill>
                  <a:srgbClr val="374151"/>
                </a:solidFill>
                <a:effectLst/>
              </a:rPr>
              <a:t>A arquitetura influencia diretamente atributos de qualidade do software</a:t>
            </a:r>
          </a:p>
          <a:p>
            <a:r>
              <a:rPr lang="pt-BR" sz="4000" b="0" i="0" dirty="0">
                <a:solidFill>
                  <a:srgbClr val="374151"/>
                </a:solidFill>
                <a:effectLst/>
              </a:rPr>
              <a:t>Desempenho, confiabilidade, usabilidade, e segurança</a:t>
            </a:r>
          </a:p>
        </p:txBody>
      </p:sp>
    </p:spTree>
    <p:extLst>
      <p:ext uri="{BB962C8B-B14F-4D97-AF65-F5344CB8AC3E}">
        <p14:creationId xmlns:p14="http://schemas.microsoft.com/office/powerpoint/2010/main" val="4236941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45AC9B-E571-620D-EA77-9CCC26D76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DB8920-5578-6BF1-400E-D87316374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4000" b="0" i="0" dirty="0">
                <a:solidFill>
                  <a:srgbClr val="374151"/>
                </a:solidFill>
                <a:effectLst/>
              </a:rPr>
              <a:t>Um projeto de arquitetura garante que esses atributos sejam considerados e otimizados desde o início</a:t>
            </a:r>
          </a:p>
          <a:p>
            <a:r>
              <a:rPr lang="pt-BR" sz="4000" b="0" i="0" dirty="0">
                <a:solidFill>
                  <a:srgbClr val="374151"/>
                </a:solidFill>
                <a:effectLst/>
              </a:rPr>
              <a:t>A IDEIA é que o produto final consiga atender as expectativas dos usuários e stakeholders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611777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40C5F3-F7A3-0E62-360F-29AB95747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TA, MAS E DAI?</a:t>
            </a:r>
          </a:p>
        </p:txBody>
      </p:sp>
      <p:pic>
        <p:nvPicPr>
          <p:cNvPr id="2050" name="Picture 2" descr="Tá, meu. E daí? | Novos memes, Memes, Memes brasileiros">
            <a:extLst>
              <a:ext uri="{FF2B5EF4-FFF2-40B4-BE49-F238E27FC236}">
                <a16:creationId xmlns:a16="http://schemas.microsoft.com/office/drawing/2014/main" id="{0185BEF8-9265-57A9-5114-6A4C665F31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108" y="1825625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152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01B4878-896E-A35F-2264-0F62A0DB68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5" t="9091" r="12571"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CEBD19F-E3FB-7140-83A0-DC8F10688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2840406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spcBef>
                <a:spcPct val="0"/>
              </a:spcBef>
            </a:pPr>
            <a:r>
              <a:rPr lang="en-US" sz="4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UM ESTUDO DE CASO</a:t>
            </a:r>
          </a:p>
        </p:txBody>
      </p:sp>
    </p:spTree>
    <p:extLst>
      <p:ext uri="{BB962C8B-B14F-4D97-AF65-F5344CB8AC3E}">
        <p14:creationId xmlns:p14="http://schemas.microsoft.com/office/powerpoint/2010/main" val="3198072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F63127-B62B-EBB7-3F9C-EE4A57F3E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F401A7-BBA7-F3F3-0DFF-2CA6E4E9E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4400" b="0" i="0" dirty="0">
                <a:effectLst/>
              </a:rPr>
              <a:t>Você está desenvolvendo um sistema de e-commerce para uma loja que vende produtos diversos online. </a:t>
            </a:r>
          </a:p>
          <a:p>
            <a:r>
              <a:rPr lang="pt-BR" sz="4400" b="0" i="0" dirty="0">
                <a:effectLst/>
              </a:rPr>
              <a:t>O sistema precisa gerenciar produtos, pedidos, pagamentos e notificações para os usuários.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2788795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9606056-3027-8C81-8709-A84C229C0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MOMENTO DE ESCOLHA</a:t>
            </a:r>
          </a:p>
        </p:txBody>
      </p:sp>
      <p:grpSp>
        <p:nvGrpSpPr>
          <p:cNvPr id="4105" name="Group 4104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106" name="Rectangle 4105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7" name="Rectangle 410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8" name="Rectangle 410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10" name="Rectangle 4109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2" name="Rectangle 411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Pin de Gabyy em memes | Memes engraçados whatsapp, Meme engraçado, Memes  hilários">
            <a:extLst>
              <a:ext uri="{FF2B5EF4-FFF2-40B4-BE49-F238E27FC236}">
                <a16:creationId xmlns:a16="http://schemas.microsoft.com/office/drawing/2014/main" id="{4B7A6FA7-1FCF-4ED7-943C-44742692E6F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5922492" y="1130771"/>
            <a:ext cx="5536001" cy="4537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2171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6DE503-9998-4F1E-B674-C068CEB15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1500"/>
            <a:ext cx="10515600" cy="5605463"/>
          </a:xfrm>
        </p:spPr>
        <p:txBody>
          <a:bodyPr>
            <a:normAutofit/>
          </a:bodyPr>
          <a:lstStyle/>
          <a:p>
            <a:pPr algn="l"/>
            <a:r>
              <a:rPr lang="pt-BR" sz="43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Aplicando o Padrão MVC</a:t>
            </a:r>
            <a:endParaRPr lang="pt-BR" sz="4300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6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Model</a:t>
            </a:r>
            <a:r>
              <a:rPr lang="pt-BR" sz="36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lvl="1"/>
            <a:r>
              <a:rPr lang="pt-BR" sz="32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Classes que representam entidades como Produto, Pedido, e Pagamento</a:t>
            </a:r>
          </a:p>
          <a:p>
            <a:pPr lvl="1"/>
            <a:r>
              <a:rPr lang="pt-BR" sz="32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Estas classes contêm a lógica para acessar os dados (por exemplo, banco de dados) e manipular as informações dos produtos, pedidos e pagamentos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7317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6DE503-9998-4F1E-B674-C068CEB15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1500"/>
            <a:ext cx="10515600" cy="5605463"/>
          </a:xfrm>
        </p:spPr>
        <p:txBody>
          <a:bodyPr>
            <a:normAutofit/>
          </a:bodyPr>
          <a:lstStyle/>
          <a:p>
            <a:pPr algn="l"/>
            <a:r>
              <a:rPr lang="pt-BR" sz="43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Aplicando o Padrão MVC</a:t>
            </a:r>
            <a:endParaRPr lang="pt-BR" sz="4300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600" b="1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View</a:t>
            </a:r>
            <a:r>
              <a:rPr lang="pt-BR" sz="36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lvl="1"/>
            <a:r>
              <a:rPr lang="pt-BR" sz="32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Interfaces de usuário que exibem a informação ao cliente</a:t>
            </a:r>
          </a:p>
          <a:p>
            <a:pPr lvl="1"/>
            <a:r>
              <a:rPr lang="pt-BR" sz="3200" dirty="0">
                <a:latin typeface="Calibri" panose="020F0502020204030204" pitchFamily="34" charset="0"/>
                <a:cs typeface="Calibri" panose="020F0502020204030204" pitchFamily="34" charset="0"/>
              </a:rPr>
              <a:t>Criação de</a:t>
            </a:r>
            <a:r>
              <a:rPr lang="pt-BR" sz="32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páginas web para cada classe de modelo</a:t>
            </a:r>
          </a:p>
          <a:p>
            <a:pPr lvl="1"/>
            <a:r>
              <a:rPr lang="pt-BR" sz="3200" dirty="0">
                <a:latin typeface="Calibri" panose="020F0502020204030204" pitchFamily="34" charset="0"/>
                <a:cs typeface="Calibri" panose="020F0502020204030204" pitchFamily="34" charset="0"/>
              </a:rPr>
              <a:t>Criação de</a:t>
            </a:r>
            <a:r>
              <a:rPr lang="pt-BR" sz="32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páginas web para listar produtos, um carrinho de compras, e formulários para entrada de pagamento</a:t>
            </a:r>
          </a:p>
        </p:txBody>
      </p:sp>
    </p:spTree>
    <p:extLst>
      <p:ext uri="{BB962C8B-B14F-4D97-AF65-F5344CB8AC3E}">
        <p14:creationId xmlns:p14="http://schemas.microsoft.com/office/powerpoint/2010/main" val="1385383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6DE503-9998-4F1E-B674-C068CEB15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1500"/>
            <a:ext cx="10515600" cy="5605463"/>
          </a:xfrm>
        </p:spPr>
        <p:txBody>
          <a:bodyPr>
            <a:normAutofit/>
          </a:bodyPr>
          <a:lstStyle/>
          <a:p>
            <a:pPr algn="l"/>
            <a:r>
              <a:rPr lang="pt-BR" sz="43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Aplicando o Padrão MVC</a:t>
            </a:r>
            <a:endParaRPr lang="pt-BR" sz="4300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600" b="1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Controller</a:t>
            </a:r>
            <a:r>
              <a:rPr lang="pt-BR" sz="36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lvl="1"/>
            <a:r>
              <a:rPr lang="pt-BR" sz="32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Componentes que processam as ações do usuário </a:t>
            </a:r>
          </a:p>
          <a:p>
            <a:pPr lvl="2"/>
            <a:r>
              <a:rPr lang="pt-BR" sz="28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pt-BR" sz="28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dicionar um produto ao carrinho</a:t>
            </a:r>
          </a:p>
          <a:p>
            <a:pPr lvl="2"/>
            <a:r>
              <a:rPr lang="pt-BR" sz="2800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pt-BR" sz="28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ealizar um pedido</a:t>
            </a:r>
            <a:endParaRPr lang="pt-BR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pt-BR" sz="3200" dirty="0">
                <a:latin typeface="Calibri" panose="020F0502020204030204" pitchFamily="34" charset="0"/>
                <a:cs typeface="Calibri" panose="020F0502020204030204" pitchFamily="34" charset="0"/>
              </a:rPr>
              <a:t>Interação</a:t>
            </a:r>
            <a:r>
              <a:rPr lang="pt-BR" sz="32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 o Model para atualizar os dados </a:t>
            </a:r>
          </a:p>
          <a:p>
            <a:pPr lvl="1"/>
            <a:r>
              <a:rPr lang="pt-BR" sz="3200" dirty="0">
                <a:latin typeface="Calibri" panose="020F0502020204030204" pitchFamily="34" charset="0"/>
                <a:cs typeface="Calibri" panose="020F0502020204030204" pitchFamily="34" charset="0"/>
              </a:rPr>
              <a:t>Interação com a </a:t>
            </a:r>
            <a:r>
              <a:rPr lang="pt-BR" sz="32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View</a:t>
            </a:r>
            <a:r>
              <a:rPr lang="pt-BR" sz="32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apropriada para resposta ao usuário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866276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434063-1452-0581-C365-4A01C4486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 tecnologia posso usar?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F5BA4C-55A3-9ED5-3C9D-0A443D94A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122" name="Picture 2" descr="Olá Mundo em 25 Linguagens de Programação: Proposta, Docs e Links.">
            <a:extLst>
              <a:ext uri="{FF2B5EF4-FFF2-40B4-BE49-F238E27FC236}">
                <a16:creationId xmlns:a16="http://schemas.microsoft.com/office/drawing/2014/main" id="{ACC6DD92-973B-23F8-CDC4-F2F5F1813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552" y="1464337"/>
            <a:ext cx="8713216" cy="5028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7910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83" name="Group 308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084" name="Rectangle 308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5" name="Rectangle 308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6" name="Rectangle 308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88" name="Rectangle 308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567D2CA-2407-0A7B-7FB2-511906472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anchor="ctr">
            <a:normAutofit fontScale="90000"/>
          </a:bodyPr>
          <a:lstStyle/>
          <a:p>
            <a:r>
              <a:rPr lang="pt-BR" sz="3600" dirty="0"/>
              <a:t>Para banco de dados tem algo?</a:t>
            </a:r>
          </a:p>
        </p:txBody>
      </p:sp>
      <p:sp>
        <p:nvSpPr>
          <p:cNvPr id="3078" name="Content Placeholder 3077">
            <a:extLst>
              <a:ext uri="{FF2B5EF4-FFF2-40B4-BE49-F238E27FC236}">
                <a16:creationId xmlns:a16="http://schemas.microsoft.com/office/drawing/2014/main" id="{7EA0617A-20E4-3CFF-7A29-1BF071EEF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r>
              <a:rPr lang="pt-BR" sz="2400" b="0" i="0" dirty="0" err="1">
                <a:effectLst/>
              </a:rPr>
              <a:t>Singleton</a:t>
            </a:r>
            <a:r>
              <a:rPr lang="pt-BR" sz="2400" b="0" i="0" dirty="0">
                <a:effectLst/>
              </a:rPr>
              <a:t> é um padrão de projeto de software. Este padrão garante a existência de apenas uma instância de uma classe, mantendo um ponto global de acesso ao seu objeto.</a:t>
            </a:r>
            <a:endParaRPr lang="en-US" sz="3600" dirty="0"/>
          </a:p>
        </p:txBody>
      </p:sp>
      <p:sp>
        <p:nvSpPr>
          <p:cNvPr id="3090" name="Rectangle 3089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Singleton">
            <a:extLst>
              <a:ext uri="{FF2B5EF4-FFF2-40B4-BE49-F238E27FC236}">
                <a16:creationId xmlns:a16="http://schemas.microsoft.com/office/drawing/2014/main" id="{770E36C2-2939-2CFA-518C-B51963810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30493" y="2403329"/>
            <a:ext cx="4223252" cy="211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92" name="Straight Connector 309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8309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EEDC27-06D1-1A8A-A074-343E96778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 para meios de pagamento?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0DE91A-1947-F5AE-84AE-60B42E279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pt-BR" sz="36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Padrão </a:t>
            </a:r>
            <a:r>
              <a:rPr lang="pt-BR" sz="3600" b="1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Factory</a:t>
            </a:r>
            <a:r>
              <a:rPr lang="pt-BR" sz="36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3600" b="1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Method</a:t>
            </a:r>
            <a:r>
              <a:rPr lang="pt-BR" sz="36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para Criação de Pagamentos</a:t>
            </a:r>
            <a:endParaRPr lang="pt-BR" sz="3600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6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Considerando a necessidade de processar diferentes tipos de pagamentos (cartão de crédito, </a:t>
            </a:r>
            <a:r>
              <a:rPr lang="pt-BR" sz="36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PayPal</a:t>
            </a:r>
            <a:r>
              <a:rPr lang="pt-BR" sz="36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boleto), você utiliza o padrão </a:t>
            </a:r>
            <a:r>
              <a:rPr lang="pt-BR" sz="36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Factory</a:t>
            </a:r>
            <a:r>
              <a:rPr lang="pt-BR" sz="36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36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Method</a:t>
            </a:r>
            <a:endParaRPr lang="pt-B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6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Isso permite que o sistema crie objetos de Pagamento específicos para cada tipo de pagamento, sem acoplar o código aos classes concretas de pagamento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44663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734A1-6F9B-F446-5ABD-FCA08D463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7F6624-3D6D-3B8C-1C2D-31ADF9343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TA, MAS E DAI?</a:t>
            </a:r>
          </a:p>
        </p:txBody>
      </p:sp>
      <p:pic>
        <p:nvPicPr>
          <p:cNvPr id="2050" name="Picture 2" descr="Tá, meu. E daí? | Novos memes, Memes, Memes brasileiros">
            <a:extLst>
              <a:ext uri="{FF2B5EF4-FFF2-40B4-BE49-F238E27FC236}">
                <a16:creationId xmlns:a16="http://schemas.microsoft.com/office/drawing/2014/main" id="{B43A9F07-B0E7-2690-7A75-0121C146691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108" y="1825625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00533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3" name="Rectangle 6152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BE3FC50-E3DD-82A4-C93C-EC3DCD71E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endParaRPr lang="pt-BR" sz="4000"/>
          </a:p>
        </p:txBody>
      </p:sp>
      <p:grpSp>
        <p:nvGrpSpPr>
          <p:cNvPr id="6155" name="Group 6154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6156" name="Rectangle 615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57" name="Rectangle 6156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59" name="Rectangle 6158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0" name="Content Placeholder 6149">
            <a:extLst>
              <a:ext uri="{FF2B5EF4-FFF2-40B4-BE49-F238E27FC236}">
                <a16:creationId xmlns:a16="http://schemas.microsoft.com/office/drawing/2014/main" id="{34EBA632-90C6-E722-E2C9-788181A5B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932257" cy="3979585"/>
          </a:xfrm>
        </p:spPr>
        <p:txBody>
          <a:bodyPr anchor="ctr">
            <a:normAutofit/>
          </a:bodyPr>
          <a:lstStyle/>
          <a:p>
            <a:r>
              <a:rPr lang="en-US" sz="4800" dirty="0" err="1"/>
              <a:t>Vai</a:t>
            </a:r>
            <a:r>
              <a:rPr lang="en-US" sz="4800" dirty="0"/>
              <a:t>, </a:t>
            </a:r>
            <a:r>
              <a:rPr lang="en-US" sz="4800" dirty="0" err="1"/>
              <a:t>fala</a:t>
            </a:r>
            <a:r>
              <a:rPr lang="en-US" sz="4800" dirty="0"/>
              <a:t> </a:t>
            </a:r>
            <a:r>
              <a:rPr lang="en-US" sz="4800" dirty="0" err="1"/>
              <a:t>como</a:t>
            </a:r>
            <a:r>
              <a:rPr lang="en-US" sz="4800" dirty="0"/>
              <a:t> …..</a:t>
            </a:r>
          </a:p>
          <a:p>
            <a:endParaRPr lang="en-US" sz="4800" dirty="0"/>
          </a:p>
        </p:txBody>
      </p:sp>
      <p:sp>
        <p:nvSpPr>
          <p:cNvPr id="6161" name="Rectangle 6160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63" name="Rectangle 6162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 descr="Entenda por que Pablo Marçal virou meme na internet - Curta Mais - Goiânia">
            <a:extLst>
              <a:ext uri="{FF2B5EF4-FFF2-40B4-BE49-F238E27FC236}">
                <a16:creationId xmlns:a16="http://schemas.microsoft.com/office/drawing/2014/main" id="{23E9E8B5-B0CC-F585-2F25-C2B831AD39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95" r="11947" b="1"/>
          <a:stretch/>
        </p:blipFill>
        <p:spPr bwMode="auto">
          <a:xfrm>
            <a:off x="5977788" y="799352"/>
            <a:ext cx="5425410" cy="525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55961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5D63A-7552-405D-FE93-89E4416D5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Como </a:t>
            </a:r>
            <a:r>
              <a:rPr lang="en-US" sz="4400" dirty="0" err="1"/>
              <a:t>vou</a:t>
            </a:r>
            <a:r>
              <a:rPr lang="en-US" sz="4400" dirty="0"/>
              <a:t> </a:t>
            </a:r>
            <a:r>
              <a:rPr lang="en-US" sz="4400" dirty="0" err="1"/>
              <a:t>fazer</a:t>
            </a:r>
            <a:r>
              <a:rPr lang="en-US" sz="4400" dirty="0"/>
              <a:t> </a:t>
            </a:r>
            <a:r>
              <a:rPr lang="en-US" sz="4400" dirty="0" err="1"/>
              <a:t>esse</a:t>
            </a:r>
            <a:r>
              <a:rPr lang="en-US" sz="4400" dirty="0"/>
              <a:t> </a:t>
            </a:r>
            <a:r>
              <a:rPr lang="en-US" sz="4400" dirty="0" err="1"/>
              <a:t>projeto</a:t>
            </a:r>
            <a:r>
              <a:rPr lang="en-US" sz="4400" dirty="0"/>
              <a:t> </a:t>
            </a:r>
            <a:r>
              <a:rPr lang="en-US" sz="4400" dirty="0" err="1"/>
              <a:t>arquitetural</a:t>
            </a:r>
            <a:r>
              <a:rPr lang="en-US" sz="4400" dirty="0"/>
              <a:t>?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AFAFA3-AFF7-AA2B-DD8C-ABBF3B0D0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3600" dirty="0"/>
              <a:t>Seguindo o meu canal com as melhores dicas de como vender cursos...</a:t>
            </a:r>
          </a:p>
          <a:p>
            <a:endParaRPr lang="pt-BR" sz="3600" dirty="0"/>
          </a:p>
          <a:p>
            <a:endParaRPr lang="pt-BR" dirty="0"/>
          </a:p>
        </p:txBody>
      </p:sp>
      <p:pic>
        <p:nvPicPr>
          <p:cNvPr id="5" name="Imagem 4" descr="Uma imagem contendo Logotipo&#10;&#10;O conteúdo gerado por IA pode estar incorreto.">
            <a:extLst>
              <a:ext uri="{FF2B5EF4-FFF2-40B4-BE49-F238E27FC236}">
                <a16:creationId xmlns:a16="http://schemas.microsoft.com/office/drawing/2014/main" id="{30EF391F-9506-FD1D-018D-398EAD0061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810250" y="2989818"/>
            <a:ext cx="3048000" cy="304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5772D06-118D-62F8-5804-BB4F967E75E2}"/>
              </a:ext>
            </a:extLst>
          </p:cNvPr>
          <p:cNvSpPr txBox="1"/>
          <p:nvPr/>
        </p:nvSpPr>
        <p:spPr>
          <a:xfrm>
            <a:off x="5810250" y="6037818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hlinkClick r:id="rId3" tooltip="https://profslusos.blogspot.com/2017/11/aqui-esta-uma-proposta-com-sentido.html"/>
              </a:rPr>
              <a:t>Esta Foto</a:t>
            </a:r>
            <a:r>
              <a:rPr lang="pt-BR" sz="900"/>
              <a:t> de Autor Desconhecido está licenciado em </a:t>
            </a:r>
            <a:r>
              <a:rPr lang="pt-BR" sz="900">
                <a:hlinkClick r:id="rId4" tooltip="https://creativecommons.org/licenses/by-sa/3.0/"/>
              </a:rPr>
              <a:t>CC BY-SA</a:t>
            </a:r>
            <a:endParaRPr lang="pt-BR" sz="900"/>
          </a:p>
        </p:txBody>
      </p:sp>
    </p:spTree>
    <p:extLst>
      <p:ext uri="{BB962C8B-B14F-4D97-AF65-F5344CB8AC3E}">
        <p14:creationId xmlns:p14="http://schemas.microsoft.com/office/powerpoint/2010/main" val="37800762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129BE-B486-E3DA-7586-2FB9E7330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50FEF-2049-E9DD-A3E9-FFEB0DF46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Como </a:t>
            </a:r>
            <a:r>
              <a:rPr lang="en-US" sz="4400" dirty="0" err="1"/>
              <a:t>vou</a:t>
            </a:r>
            <a:r>
              <a:rPr lang="en-US" sz="4400" dirty="0"/>
              <a:t> </a:t>
            </a:r>
            <a:r>
              <a:rPr lang="en-US" sz="4400" dirty="0" err="1"/>
              <a:t>fazer</a:t>
            </a:r>
            <a:r>
              <a:rPr lang="en-US" sz="4400" dirty="0"/>
              <a:t> </a:t>
            </a:r>
            <a:r>
              <a:rPr lang="en-US" sz="4400" dirty="0" err="1"/>
              <a:t>esse</a:t>
            </a:r>
            <a:r>
              <a:rPr lang="en-US" sz="4400" dirty="0"/>
              <a:t> </a:t>
            </a:r>
            <a:r>
              <a:rPr lang="en-US" sz="4400" dirty="0" err="1"/>
              <a:t>projeto</a:t>
            </a:r>
            <a:r>
              <a:rPr lang="en-US" sz="4400" dirty="0"/>
              <a:t> </a:t>
            </a:r>
            <a:r>
              <a:rPr lang="en-US" sz="4400" dirty="0" err="1"/>
              <a:t>arquitetural</a:t>
            </a:r>
            <a:r>
              <a:rPr lang="en-US" sz="4400" dirty="0"/>
              <a:t>?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69C545-B520-E217-C2C8-55914035F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3600" dirty="0"/>
              <a:t>Buscando um modelo consolidado na literatura</a:t>
            </a:r>
          </a:p>
          <a:p>
            <a:r>
              <a:rPr lang="pt-BR" sz="3600" dirty="0"/>
              <a:t>Seguindo frameworks de gerenciamento de projetos</a:t>
            </a:r>
          </a:p>
          <a:p>
            <a:r>
              <a:rPr lang="pt-BR" sz="3600" dirty="0"/>
              <a:t>Tomando decisões de projeto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315442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318F72-B3D9-8492-44B4-E168E6BF4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Projeto é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432FB1-57EE-763F-3D9D-7159AF84F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Um </a:t>
            </a:r>
            <a:r>
              <a:rPr lang="pt-BR" sz="3600" b="1" dirty="0"/>
              <a:t>projeto</a:t>
            </a:r>
            <a:r>
              <a:rPr lang="pt-BR" sz="3600" dirty="0"/>
              <a:t> é um esforço temporário empreendido para criar um produto, serviço ou resultado único. </a:t>
            </a:r>
          </a:p>
          <a:p>
            <a:r>
              <a:rPr lang="pt-BR" sz="3600" dirty="0"/>
              <a:t>Um projeto possui um início e um fim bem definidos e é conduzido para atender a objetivos específicos dentro de restrições de tempo, custo e recursos.</a:t>
            </a:r>
          </a:p>
        </p:txBody>
      </p:sp>
    </p:spTree>
    <p:extLst>
      <p:ext uri="{BB962C8B-B14F-4D97-AF65-F5344CB8AC3E}">
        <p14:creationId xmlns:p14="http://schemas.microsoft.com/office/powerpoint/2010/main" val="5680712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EEFCBA-3F66-7EED-ECFE-756E8B046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Processo é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7F1AA8-1999-7EE8-9539-87D6EE051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Um </a:t>
            </a:r>
            <a:r>
              <a:rPr lang="pt-BR" sz="3600" b="1" dirty="0"/>
              <a:t>processo</a:t>
            </a:r>
            <a:r>
              <a:rPr lang="pt-BR" sz="3600" dirty="0"/>
              <a:t> é um conjunto estruturado de atividades inter-relacionadas que transformam insumos (entradas) em produtos, serviços ou resultados (saídas).</a:t>
            </a:r>
          </a:p>
          <a:p>
            <a:r>
              <a:rPr lang="pt-BR" sz="3600" dirty="0"/>
              <a:t>Um processo é contínuo e repetitivo.</a:t>
            </a:r>
          </a:p>
        </p:txBody>
      </p:sp>
    </p:spTree>
    <p:extLst>
      <p:ext uri="{BB962C8B-B14F-4D97-AF65-F5344CB8AC3E}">
        <p14:creationId xmlns:p14="http://schemas.microsoft.com/office/powerpoint/2010/main" val="22884398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3089C0-83E6-988E-D3FB-70F8D2ECC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graphicFrame>
        <p:nvGraphicFramePr>
          <p:cNvPr id="16" name="Espaço Reservado para Conteúdo 15">
            <a:extLst>
              <a:ext uri="{FF2B5EF4-FFF2-40B4-BE49-F238E27FC236}">
                <a16:creationId xmlns:a16="http://schemas.microsoft.com/office/drawing/2014/main" id="{114762C4-CA06-F6AB-6CFF-8FA89DC05CA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600" y="1186072"/>
          <a:ext cx="10972800" cy="4485856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321928534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788663065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51118781"/>
                    </a:ext>
                  </a:extLst>
                </a:gridCol>
              </a:tblGrid>
              <a:tr h="1121464">
                <a:tc>
                  <a:txBody>
                    <a:bodyPr/>
                    <a:lstStyle/>
                    <a:p>
                      <a:pPr algn="ctr"/>
                      <a:r>
                        <a:rPr lang="pt-BR" sz="4300" b="1" dirty="0">
                          <a:solidFill>
                            <a:schemeClr val="bg1"/>
                          </a:solidFill>
                        </a:rPr>
                        <a:t>Conceito</a:t>
                      </a:r>
                    </a:p>
                  </a:txBody>
                  <a:tcPr marL="121920" marR="12192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4300" b="1" dirty="0">
                          <a:solidFill>
                            <a:schemeClr val="bg1"/>
                          </a:solidFill>
                        </a:rPr>
                        <a:t>Definição</a:t>
                      </a:r>
                    </a:p>
                  </a:txBody>
                  <a:tcPr marL="121920" marR="12192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4300" b="1" dirty="0">
                          <a:solidFill>
                            <a:schemeClr val="bg1"/>
                          </a:solidFill>
                        </a:rPr>
                        <a:t>Exemplo</a:t>
                      </a:r>
                    </a:p>
                  </a:txBody>
                  <a:tcPr marL="121920" marR="12192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584261"/>
                  </a:ext>
                </a:extLst>
              </a:tr>
              <a:tr h="1121464">
                <a:tc>
                  <a:txBody>
                    <a:bodyPr/>
                    <a:lstStyle/>
                    <a:p>
                      <a:r>
                        <a:rPr lang="pt-BR" sz="3200" b="1" dirty="0"/>
                        <a:t>Atividade</a:t>
                      </a:r>
                      <a:endParaRPr lang="pt-BR" sz="3200" dirty="0"/>
                    </a:p>
                  </a:txBody>
                  <a:tcPr marL="121920" marR="12192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3200"/>
                        <a:t>Ação específica dentro do projeto</a:t>
                      </a:r>
                    </a:p>
                  </a:txBody>
                  <a:tcPr marL="121920" marR="12192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3200"/>
                        <a:t>Criar interface do login</a:t>
                      </a:r>
                    </a:p>
                  </a:txBody>
                  <a:tcPr marL="121920" marR="12192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0062669"/>
                  </a:ext>
                </a:extLst>
              </a:tr>
              <a:tr h="1121464">
                <a:tc>
                  <a:txBody>
                    <a:bodyPr/>
                    <a:lstStyle/>
                    <a:p>
                      <a:r>
                        <a:rPr lang="pt-BR" sz="3200" b="1"/>
                        <a:t>Tarefa</a:t>
                      </a:r>
                      <a:endParaRPr lang="pt-BR" sz="3200"/>
                    </a:p>
                  </a:txBody>
                  <a:tcPr marL="121920" marR="12192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3200"/>
                        <a:t>Subdivisão de uma atividade</a:t>
                      </a:r>
                    </a:p>
                  </a:txBody>
                  <a:tcPr marL="121920" marR="12192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3200"/>
                        <a:t>Criar botão "Entrar"</a:t>
                      </a:r>
                    </a:p>
                  </a:txBody>
                  <a:tcPr marL="121920" marR="12192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146431"/>
                  </a:ext>
                </a:extLst>
              </a:tr>
              <a:tr h="1121464">
                <a:tc>
                  <a:txBody>
                    <a:bodyPr/>
                    <a:lstStyle/>
                    <a:p>
                      <a:r>
                        <a:rPr lang="pt-BR" sz="3200" b="1" dirty="0"/>
                        <a:t>Entregável</a:t>
                      </a:r>
                      <a:endParaRPr lang="pt-BR" sz="3200" dirty="0"/>
                    </a:p>
                  </a:txBody>
                  <a:tcPr marL="121920" marR="12192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3200"/>
                        <a:t>Resultado final da atividade</a:t>
                      </a:r>
                    </a:p>
                  </a:txBody>
                  <a:tcPr marL="121920" marR="12192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3200" dirty="0"/>
                        <a:t>Tela de login funcionando</a:t>
                      </a:r>
                    </a:p>
                  </a:txBody>
                  <a:tcPr marL="121920" marR="12192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3318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98877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B5813-ED62-52E7-35E5-DF7B09220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Arquitetura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C16156-3922-1012-A8A3-E66500385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pt-BR" b="1" dirty="0"/>
              <a:t>arquitetura de software</a:t>
            </a:r>
            <a:r>
              <a:rPr lang="pt-BR" dirty="0"/>
              <a:t> é a estrutura fundamental de um sistema de software, composta por seus componentes, as relações entre eles e os princípios que orientam seu design e evolução. </a:t>
            </a:r>
          </a:p>
          <a:p>
            <a:r>
              <a:rPr lang="pt-BR" dirty="0"/>
              <a:t>Artefatos:</a:t>
            </a:r>
          </a:p>
          <a:p>
            <a:pPr lvl="1"/>
            <a:r>
              <a:rPr lang="pt-BR" dirty="0"/>
              <a:t>Organização dos módulos</a:t>
            </a:r>
          </a:p>
          <a:p>
            <a:pPr lvl="1"/>
            <a:r>
              <a:rPr lang="pt-BR" dirty="0"/>
              <a:t>Padrões de comunicação</a:t>
            </a:r>
          </a:p>
          <a:p>
            <a:pPr lvl="1"/>
            <a:r>
              <a:rPr lang="pt-BR" dirty="0"/>
              <a:t>Decisões de projeto</a:t>
            </a:r>
          </a:p>
        </p:txBody>
      </p:sp>
    </p:spTree>
    <p:extLst>
      <p:ext uri="{BB962C8B-B14F-4D97-AF65-F5344CB8AC3E}">
        <p14:creationId xmlns:p14="http://schemas.microsoft.com/office/powerpoint/2010/main" val="14341521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E25DA6-44C0-9B74-B8DF-9FDA260E4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Um arquitetura tem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838A50-C620-8EBF-A5DA-893F9C80C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Estruturas e Componentes</a:t>
            </a:r>
            <a:r>
              <a:rPr lang="pt-BR" dirty="0"/>
              <a:t>: Define módulos, serviços, camadas e interações.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Regras e Restrições</a:t>
            </a:r>
            <a:r>
              <a:rPr lang="pt-BR" dirty="0"/>
              <a:t>: Estabelece padrões e diretrizes para desenvolvimento.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Qualidade e Performance</a:t>
            </a:r>
            <a:r>
              <a:rPr lang="pt-BR" dirty="0"/>
              <a:t>: Garante aspectos como escalabilidade, segurança e manutenibilidade.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Decisões Arquiteturais</a:t>
            </a:r>
            <a:r>
              <a:rPr lang="pt-BR" dirty="0"/>
              <a:t>: Influenciam diretamente a flexibilidade e a adaptabilidade do sistema.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940637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5CFE2C-8233-C5A5-964D-E79BAD44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uma decisão de projeto?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28F7AC-6226-97CB-013E-758ACEB2C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36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Decisões de projeto referem-se às escolhas feitas durante o desenvolvimento de software</a:t>
            </a:r>
          </a:p>
          <a:p>
            <a:r>
              <a:rPr lang="pt-BR" sz="36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Decisões afetam:</a:t>
            </a:r>
          </a:p>
          <a:p>
            <a:pPr lvl="1"/>
            <a:r>
              <a:rPr lang="pt-BR" sz="3200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strutura do código</a:t>
            </a:r>
          </a:p>
          <a:p>
            <a:pPr lvl="1"/>
            <a:r>
              <a:rPr lang="pt-BR" sz="3200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omportamento do sistemas</a:t>
            </a:r>
          </a:p>
          <a:p>
            <a:pPr lvl="1"/>
            <a:r>
              <a:rPr lang="pt-BR" sz="3200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Funcionalidades do sistema</a:t>
            </a:r>
            <a:endParaRPr lang="pt-BR" dirty="0">
              <a:solidFill>
                <a:srgbClr val="37415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8082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D67A0-2C01-F605-0BEE-6ACBE1C6A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uma decisão de projeto?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17EF4E-60BE-CBD1-9C9C-E35086D8F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4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Estas decisões abrangem:</a:t>
            </a:r>
          </a:p>
          <a:p>
            <a:pPr lvl="1"/>
            <a:r>
              <a:rPr lang="pt-BR" sz="36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Seleção de tecnologias e frameworks</a:t>
            </a:r>
          </a:p>
          <a:p>
            <a:pPr lvl="1"/>
            <a:r>
              <a:rPr lang="pt-BR" sz="36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Definição de estruturas de dados</a:t>
            </a:r>
          </a:p>
          <a:p>
            <a:pPr lvl="1"/>
            <a:r>
              <a:rPr lang="pt-BR" sz="36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pt-BR" sz="36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lgoritmos</a:t>
            </a:r>
          </a:p>
          <a:p>
            <a:pPr lvl="1"/>
            <a:r>
              <a:rPr lang="pt-BR" sz="3600" dirty="0">
                <a:latin typeface="Calibri" panose="020F0502020204030204" pitchFamily="34" charset="0"/>
                <a:cs typeface="Calibri" panose="020F0502020204030204" pitchFamily="34" charset="0"/>
              </a:rPr>
              <a:t>Padrões de projeto</a:t>
            </a:r>
          </a:p>
          <a:p>
            <a:pPr lvl="1"/>
            <a:r>
              <a:rPr lang="pt-BR" sz="3600" dirty="0">
                <a:latin typeface="Calibri" panose="020F0502020204030204" pitchFamily="34" charset="0"/>
                <a:cs typeface="Calibri" panose="020F0502020204030204" pitchFamily="34" charset="0"/>
              </a:rPr>
              <a:t>Componentes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426147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DD762C-4671-3759-58BF-C6008324A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Arquitetura de um Sistema de E-commerce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8B1ECC-D536-0C30-9361-5A54AC568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Arquitetura em </a:t>
            </a:r>
            <a:r>
              <a:rPr lang="pt-BR" dirty="0" err="1"/>
              <a:t>Microserviços</a:t>
            </a:r>
            <a:endParaRPr lang="pt-BR" dirty="0"/>
          </a:p>
          <a:p>
            <a:r>
              <a:rPr lang="pt-BR" b="1" dirty="0" err="1"/>
              <a:t>Frontend</a:t>
            </a:r>
            <a:r>
              <a:rPr lang="pt-BR" b="1" dirty="0"/>
              <a:t> (Interface do Usuário)</a:t>
            </a:r>
            <a:r>
              <a:rPr lang="pt-BR" dirty="0"/>
              <a:t> – Aplicação web e mobile construída com </a:t>
            </a:r>
            <a:r>
              <a:rPr lang="pt-BR" dirty="0" err="1"/>
              <a:t>React</a:t>
            </a:r>
            <a:r>
              <a:rPr lang="pt-BR" dirty="0"/>
              <a:t> ou Angular.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 err="1"/>
              <a:t>Backend</a:t>
            </a:r>
            <a:r>
              <a:rPr lang="pt-BR" b="1" dirty="0"/>
              <a:t> </a:t>
            </a:r>
            <a:r>
              <a:rPr lang="pt-BR" b="1" dirty="0" err="1"/>
              <a:t>Microserviços</a:t>
            </a:r>
            <a:r>
              <a:rPr lang="pt-BR" dirty="0"/>
              <a:t>:</a:t>
            </a:r>
          </a:p>
          <a:p>
            <a:pPr lvl="1"/>
            <a:r>
              <a:rPr lang="pt-BR" b="1" dirty="0"/>
              <a:t>Serviço de Autenticação</a:t>
            </a:r>
            <a:r>
              <a:rPr lang="pt-BR" dirty="0"/>
              <a:t> – Gerencia login, permissões e segurança.</a:t>
            </a:r>
          </a:p>
          <a:p>
            <a:pPr lvl="1"/>
            <a:r>
              <a:rPr lang="pt-BR" b="1" dirty="0"/>
              <a:t>Serviço de Catálogo de Produtos</a:t>
            </a:r>
            <a:r>
              <a:rPr lang="pt-BR" dirty="0"/>
              <a:t> – Mantém os produtos e categorias.</a:t>
            </a:r>
          </a:p>
          <a:p>
            <a:pPr lvl="1"/>
            <a:r>
              <a:rPr lang="pt-BR" b="1" dirty="0"/>
              <a:t>Serviço de Pagamentos</a:t>
            </a:r>
            <a:r>
              <a:rPr lang="pt-BR" dirty="0"/>
              <a:t> – Integra métodos de pagamento e antifraude.</a:t>
            </a:r>
          </a:p>
          <a:p>
            <a:pPr lvl="1"/>
            <a:r>
              <a:rPr lang="pt-BR" b="1" dirty="0"/>
              <a:t>Serviço de Pedidos</a:t>
            </a:r>
            <a:r>
              <a:rPr lang="pt-BR" dirty="0"/>
              <a:t> – Gerencia a criação e rastreamento dos pedidos.</a:t>
            </a:r>
          </a:p>
          <a:p>
            <a:r>
              <a:rPr lang="pt-BR" b="1" dirty="0"/>
              <a:t>Banco de Dados</a:t>
            </a:r>
            <a:r>
              <a:rPr lang="pt-BR" dirty="0"/>
              <a:t> – Bancos distribuídos para cada </a:t>
            </a:r>
            <a:r>
              <a:rPr lang="pt-BR" dirty="0" err="1"/>
              <a:t>microserviço</a:t>
            </a:r>
            <a:r>
              <a:rPr lang="pt-BR" dirty="0"/>
              <a:t> (ex.: PostgreSQL, </a:t>
            </a:r>
            <a:r>
              <a:rPr lang="pt-BR" dirty="0" err="1"/>
              <a:t>MongoDB</a:t>
            </a:r>
            <a:r>
              <a:rPr lang="pt-BR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5167943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77" name="Group 717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7178" name="Rectangle 7177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79" name="Rectangle 7178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80" name="Rectangle 7179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182" name="Rectangle 7181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585F4B4-CD14-B8E7-07B2-F65556612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anchor="ctr">
            <a:normAutofit/>
          </a:bodyPr>
          <a:lstStyle/>
          <a:p>
            <a:r>
              <a:rPr lang="pt-BR" sz="3300"/>
              <a:t>Como eu vejo essa arquitetura?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9A998F-C24F-B9FF-2DD2-E7D437F4A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r>
              <a:rPr lang="pt-BR" sz="3200" b="0" i="0" dirty="0">
                <a:effectLst/>
              </a:rPr>
              <a:t>Visões de arquitetura são representações ou perspectivas específicas do sistema que destacam certos aspectos ou componentes da arquitetura</a:t>
            </a:r>
          </a:p>
        </p:txBody>
      </p:sp>
      <p:sp>
        <p:nvSpPr>
          <p:cNvPr id="7184" name="Rectangle 7183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 descr="Tipos de ponto de vista e como treiná-los com a literatura - Notícias  Concursos">
            <a:extLst>
              <a:ext uri="{FF2B5EF4-FFF2-40B4-BE49-F238E27FC236}">
                <a16:creationId xmlns:a16="http://schemas.microsoft.com/office/drawing/2014/main" id="{40F5A01D-2B27-8EFB-70E0-955D83A6FA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30493" y="2355818"/>
            <a:ext cx="4223252" cy="2206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186" name="Straight Connector 7185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4301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77" name="Group 717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7178" name="Rectangle 7177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79" name="Rectangle 7178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80" name="Rectangle 7179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182" name="Rectangle 7181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585F4B4-CD14-B8E7-07B2-F65556612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anchor="ctr">
            <a:normAutofit/>
          </a:bodyPr>
          <a:lstStyle/>
          <a:p>
            <a:r>
              <a:rPr lang="pt-BR" sz="3300"/>
              <a:t>Como eu vejo essa arquitetura?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9A998F-C24F-B9FF-2DD2-E7D437F4A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r>
              <a:rPr lang="pt-BR" sz="32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 visão busca facilitar o entendimento e a comunicação da estrutura e do funcionamento do sistema entre todos os stakeholders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84" name="Rectangle 7183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 descr="Tipos de ponto de vista e como treiná-los com a literatura - Notícias  Concursos">
            <a:extLst>
              <a:ext uri="{FF2B5EF4-FFF2-40B4-BE49-F238E27FC236}">
                <a16:creationId xmlns:a16="http://schemas.microsoft.com/office/drawing/2014/main" id="{40F5A01D-2B27-8EFB-70E0-955D83A6FA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30493" y="2355818"/>
            <a:ext cx="4223252" cy="2206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186" name="Straight Connector 7185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48135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27D71C-4AB2-94CF-CAFA-62F432385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Visões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36A5AF-6B00-E812-6DD6-3DE6F3C29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sz="3200" b="1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Visão Lógica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Mostra a organização funcional do sistema, como os principais componentes e serviços são organizados e interagem para realizar a funcionalidade do sistema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200" b="1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Visão de Desenvolvimento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Foca na estrutura do software no ambiente de desenvolvimento, incluindo módulos, pacotes e camadas de software</a:t>
            </a:r>
          </a:p>
        </p:txBody>
      </p:sp>
    </p:spTree>
    <p:extLst>
      <p:ext uri="{BB962C8B-B14F-4D97-AF65-F5344CB8AC3E}">
        <p14:creationId xmlns:p14="http://schemas.microsoft.com/office/powerpoint/2010/main" val="15275272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27D71C-4AB2-94CF-CAFA-62F432385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Visões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36A5AF-6B00-E812-6DD6-3DE6F3C29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sz="3600" b="1" i="0" dirty="0">
                <a:solidFill>
                  <a:srgbClr val="374151"/>
                </a:solidFill>
                <a:effectLst/>
                <a:cs typeface="Calibri" panose="020F0502020204030204" pitchFamily="34" charset="0"/>
              </a:rPr>
              <a:t>Visão de Processo</a:t>
            </a:r>
            <a:r>
              <a:rPr lang="pt-BR" sz="3600" b="0" i="0" dirty="0">
                <a:solidFill>
                  <a:srgbClr val="374151"/>
                </a:solidFill>
                <a:effectLst/>
                <a:cs typeface="Calibri" panose="020F0502020204030204" pitchFamily="34" charset="0"/>
              </a:rPr>
              <a:t>: Descreve os processos ou threads que executam no sistema e suas interações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600" b="1" i="0" dirty="0">
                <a:solidFill>
                  <a:srgbClr val="374151"/>
                </a:solidFill>
                <a:effectLst/>
                <a:cs typeface="Calibri" panose="020F0502020204030204" pitchFamily="34" charset="0"/>
              </a:rPr>
              <a:t>Visão Física</a:t>
            </a:r>
            <a:r>
              <a:rPr lang="pt-BR" sz="3600" b="0" i="0" dirty="0">
                <a:solidFill>
                  <a:srgbClr val="374151"/>
                </a:solidFill>
                <a:effectLst/>
                <a:cs typeface="Calibri" panose="020F0502020204030204" pitchFamily="34" charset="0"/>
              </a:rPr>
              <a:t>: Também conhecida como visão de implantação, mostra como o software é mapeado em hardware ou em outros sistemas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5562046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6EA3A1-F740-0BE0-C5BF-C14A872A0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Padrões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961BF6-9B68-485D-3712-678203520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 b="0" i="0" dirty="0">
                <a:solidFill>
                  <a:srgbClr val="374151"/>
                </a:solidFill>
                <a:effectLst/>
              </a:rPr>
              <a:t>Padrões de arquitetura são soluções reutilizáveis para problemas comuns de projeto de software</a:t>
            </a:r>
          </a:p>
          <a:p>
            <a:r>
              <a:rPr lang="pt-BR" sz="3600" b="0" i="0" dirty="0">
                <a:solidFill>
                  <a:srgbClr val="374151"/>
                </a:solidFill>
                <a:effectLst/>
              </a:rPr>
              <a:t>Padrões de arquitetura fornecem um modelo ou </a:t>
            </a:r>
            <a:r>
              <a:rPr lang="pt-BR" sz="3600" b="0" i="0" dirty="0" err="1">
                <a:solidFill>
                  <a:srgbClr val="374151"/>
                </a:solidFill>
                <a:effectLst/>
              </a:rPr>
              <a:t>template</a:t>
            </a:r>
            <a:r>
              <a:rPr lang="pt-BR" sz="3600" b="0" i="0" dirty="0">
                <a:solidFill>
                  <a:srgbClr val="374151"/>
                </a:solidFill>
                <a:effectLst/>
              </a:rPr>
              <a:t> que pode ser adaptado para resolver um problema de design em vários contextos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7169304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39910D-EA9D-8E5A-B7AF-5EA3E51C5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padrões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8EBD01-D408-2B7B-552C-002C23008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sz="3600" b="1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Padrão MVC (Model-</a:t>
            </a:r>
            <a:r>
              <a:rPr lang="pt-BR" sz="3600" b="1" i="0" dirty="0" err="1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View</a:t>
            </a:r>
            <a:r>
              <a:rPr lang="pt-BR" sz="3600" b="1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pt-BR" sz="3600" b="1" i="0" dirty="0" err="1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Controller</a:t>
            </a:r>
            <a:r>
              <a:rPr lang="pt-BR" sz="3600" b="1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pt-BR" sz="36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Separa a lógica de negócios, a interface do usuário e a entrada do usuário em três componentes distintos, facilitando a manutenção e a escalabilidade.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73644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39910D-EA9D-8E5A-B7AF-5EA3E51C5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padrões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8EBD01-D408-2B7B-552C-002C23008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sz="4000" b="1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Padrões de Criação</a:t>
            </a:r>
            <a:r>
              <a:rPr lang="pt-BR" sz="40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Relacionados à criação de objetos ou componentes do sistema, como </a:t>
            </a:r>
            <a:r>
              <a:rPr lang="pt-BR" sz="4000" b="0" i="0" dirty="0" err="1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Singleton</a:t>
            </a:r>
            <a:r>
              <a:rPr lang="pt-BR" sz="40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pt-BR" sz="4000" b="0" i="0" dirty="0" err="1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Factory</a:t>
            </a:r>
            <a:r>
              <a:rPr lang="pt-BR" sz="40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4000" b="1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Padrões Estruturais</a:t>
            </a:r>
            <a:r>
              <a:rPr lang="pt-BR" sz="40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Lidam com a composição ou estrutura de classes e objetos, como </a:t>
            </a:r>
            <a:r>
              <a:rPr lang="pt-BR" sz="4000" b="0" i="0" dirty="0" err="1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Adapter</a:t>
            </a:r>
            <a:r>
              <a:rPr lang="pt-BR" sz="40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pt-BR" sz="4000" b="0" i="0" dirty="0" err="1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Composite</a:t>
            </a:r>
            <a:r>
              <a:rPr lang="pt-BR" sz="40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226290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39910D-EA9D-8E5A-B7AF-5EA3E51C5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padrões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8EBD01-D408-2B7B-552C-002C23008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sz="3600" b="1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Padrões Comportamentais</a:t>
            </a:r>
            <a:r>
              <a:rPr lang="pt-BR" sz="36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Focam em como os objetos e classes interagem e distribuem responsabilidades, como </a:t>
            </a:r>
            <a:r>
              <a:rPr lang="pt-BR" sz="3600" b="0" i="0" dirty="0" err="1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Observer</a:t>
            </a:r>
            <a:r>
              <a:rPr lang="pt-BR" sz="36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pt-BR" sz="3600" b="0" i="0" dirty="0" err="1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Strategy</a:t>
            </a:r>
            <a:r>
              <a:rPr lang="pt-BR" sz="36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600" b="1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Padrões GRASP</a:t>
            </a:r>
            <a:r>
              <a:rPr lang="pt-BR" sz="36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Princípios gerais de design orientado a objetos que guiam responsabilidades de classes.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26117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1227</TotalTime>
  <Words>1248</Words>
  <Application>Microsoft Macintosh PowerPoint</Application>
  <PresentationFormat>Widescreen</PresentationFormat>
  <Paragraphs>160</Paragraphs>
  <Slides>41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5" baseType="lpstr">
      <vt:lpstr>Arial</vt:lpstr>
      <vt:lpstr>Calibri</vt:lpstr>
      <vt:lpstr>Calibri Light</vt:lpstr>
      <vt:lpstr>Tema do Office</vt:lpstr>
      <vt:lpstr>Experiência Profissional 2026 — Desenvolvimento de Aplicações</vt:lpstr>
      <vt:lpstr>Arquitetura de um software</vt:lpstr>
      <vt:lpstr>Um projeto</vt:lpstr>
      <vt:lpstr>Uma das razões do projeto</vt:lpstr>
      <vt:lpstr>Como assim comunicação?</vt:lpstr>
      <vt:lpstr>Como assim comunicação?</vt:lpstr>
      <vt:lpstr>ESCOLHAS</vt:lpstr>
      <vt:lpstr>Escolhas</vt:lpstr>
      <vt:lpstr>ESCOLHAS</vt:lpstr>
      <vt:lpstr>RESULTADOS</vt:lpstr>
      <vt:lpstr>RESULTADOS</vt:lpstr>
      <vt:lpstr>TA, MAS E DAI?</vt:lpstr>
      <vt:lpstr>UM ESTUDO DE CASO</vt:lpstr>
      <vt:lpstr>Apresentação do PowerPoint</vt:lpstr>
      <vt:lpstr>MOMENTO DE ESCOLHA</vt:lpstr>
      <vt:lpstr>Apresentação do PowerPoint</vt:lpstr>
      <vt:lpstr>Apresentação do PowerPoint</vt:lpstr>
      <vt:lpstr>Apresentação do PowerPoint</vt:lpstr>
      <vt:lpstr>Qual tecnologia posso usar?</vt:lpstr>
      <vt:lpstr>Para banco de dados tem algo?</vt:lpstr>
      <vt:lpstr>E para meios de pagamento?</vt:lpstr>
      <vt:lpstr>TA, MAS E DAI?</vt:lpstr>
      <vt:lpstr>Apresentação do PowerPoint</vt:lpstr>
      <vt:lpstr>Como vou fazer esse projeto arquitetural?</vt:lpstr>
      <vt:lpstr>Como vou fazer esse projeto arquitetural?</vt:lpstr>
      <vt:lpstr>Projeto é </vt:lpstr>
      <vt:lpstr>Processo é</vt:lpstr>
      <vt:lpstr>Apresentação do PowerPoint</vt:lpstr>
      <vt:lpstr>Arquitetura de software</vt:lpstr>
      <vt:lpstr>Um arquitetura tem</vt:lpstr>
      <vt:lpstr>O que é uma decisão de projeto?</vt:lpstr>
      <vt:lpstr>O que é uma decisão de projeto?</vt:lpstr>
      <vt:lpstr>Arquitetura de um Sistema de E-commerce</vt:lpstr>
      <vt:lpstr>Como eu vejo essa arquitetura?</vt:lpstr>
      <vt:lpstr>Como eu vejo essa arquitetura?</vt:lpstr>
      <vt:lpstr>Visões</vt:lpstr>
      <vt:lpstr>Visões</vt:lpstr>
      <vt:lpstr>Padrões</vt:lpstr>
      <vt:lpstr>Exemplo de padrões</vt:lpstr>
      <vt:lpstr>Exemplo de padrões</vt:lpstr>
      <vt:lpstr>Exemplo de padrões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Técnico em  Desenvolvimento de Sistemas </dc:title>
  <dc:creator>Henrique Coppola Cole</dc:creator>
  <cp:lastModifiedBy>João Choma</cp:lastModifiedBy>
  <cp:revision>46</cp:revision>
  <dcterms:created xsi:type="dcterms:W3CDTF">2020-01-23T19:05:58Z</dcterms:created>
  <dcterms:modified xsi:type="dcterms:W3CDTF">2026-02-09T14:35:08Z</dcterms:modified>
</cp:coreProperties>
</file>