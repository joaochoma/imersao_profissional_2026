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100" d="100"/>
          <a:sy n="100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12BAE-49D8-E6CB-1527-B236BE048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B34C9F-7346-BE7A-39C4-78ED80DC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106EF4-E1DE-6D76-2775-CB6E23E6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9D9BD3-5D78-F5A7-F7AC-80981728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1FF8BC-5CE9-AA4D-D0BD-DBEAF9AF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73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4B467-E222-3C36-14EB-D3211927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61715D-CB12-0F38-5E37-34EF515C3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696B9D-213C-B836-D9C1-65A6A1FC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92379-E973-D49C-962D-05BB767D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E86011-40A4-D56D-6945-0FAF4B69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7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61CED-1175-A1FD-F75B-DDD9A3A7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559606-7CED-4A47-CB26-A72765E57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8C7CEC-F387-9464-BB72-AC252986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74B6F1-DB91-79E8-AE11-8CA78015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E92BDF-D9E0-DD0B-8D5A-182413AD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12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A0AB7-6C04-DE2F-17B8-C0E73FCF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4FB662-689F-3ED1-1B0E-6A7980F28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8582EB-8A6F-2330-04A7-67F5FEA28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4CC8C6-F919-86C3-ECB0-9A8BD832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0942F-5A94-09EF-023C-A1627D46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2BFFF3-90FC-13F9-2646-B981A5F4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67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58EC2-7AEE-BC20-8369-B8FA44A5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BA8E94-9172-E4F5-680D-7A568ADB1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0B12B2-4DBA-B463-2B6B-72FFA4072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DC7831-70E4-8DE9-F440-048C7DA3D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1846B0-BB1A-930D-68EA-C6960771F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CAEC2A-E545-BB91-4029-3175003DF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11AE14-352B-6FC5-7E2A-7B778DAA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020DB0-AC91-241E-C10B-CBD18802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64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77AD7-938C-C264-3953-A720D845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DFF5CE-1989-2FD8-42AB-C349E8CC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6E1F49-1195-0955-98B5-D4762D60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E81046-ECE4-E1BA-5895-B3782E87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32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1A12A6-7295-4068-F94C-04C93F52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376FCF-228C-6DEC-28B1-537CF294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591593-EC81-13FE-E882-A0D27BDD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05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F885D-072E-9851-2009-263E9F40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95FB9-6BEE-2298-4ABF-271D8190A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DFD645-4BDE-2332-319C-E50C5CE93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A559BD-2037-E3A1-BADD-D1896278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14B59A-0511-98EC-48F8-CE7923A1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F04A99-5D2B-7925-30D3-20C63AA8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3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B3F4A-4217-4AB4-A16E-A2C5B041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16EE9C-028C-5987-468E-D8C8E6A6B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797390-F291-AA30-FC64-D4F3C93E2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6F1E5-7FF8-0919-4739-F160A50F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BA99C2-1938-F422-83E1-54E6AF1D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2BAC2D-5E79-9762-2973-3D2BE462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78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3724E-453E-B8A9-C968-E558CE83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C0A07A-7615-EECA-29FB-646B082DD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7C0A7B-BE32-6CF2-B7D4-B1CCB0D6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AF0384-9057-CF64-A872-3731903A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C48C9A-945D-28C0-CFE2-99E999B7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2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C9BDB6-7AC4-FD52-6F12-BD6D9BBF0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4A834B-76AF-7936-330A-F09A3F670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C5108A-C4A4-E225-8A3C-75C3F811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DC86A3-6153-A36B-BA7B-A653A31E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BE6B54-A3A9-70E9-A06F-3BEBC760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CA8F76-01F2-A996-4944-5CA4AE3D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D4C4EE-E660-5694-86F9-F0DDCE197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B11F7-1E2C-085C-E102-25AE5A1FD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C271F-6DDD-5346-91A9-9EA32B083265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90BFF1-2360-22BC-ACA7-6C8FEE055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BC216-8ED7-FD42-7CCE-844750900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9178C-ED79-0348-8FA5-B60E7D863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51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A909A-66EC-02EB-F817-2BD88F5FA8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Regras de Negócio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E0E24-E5E4-BC09-4E97-00903A738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55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D6EF3-E125-8C60-7424-8F1F7899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CA1DE-BCB9-BAC3-1684-ED5083DC1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Regras de negócio</a:t>
            </a:r>
            <a:r>
              <a:rPr lang="pt-BR" dirty="0"/>
              <a:t> são </a:t>
            </a:r>
            <a:r>
              <a:rPr lang="pt-BR" i="1" dirty="0"/>
              <a:t>restrições</a:t>
            </a:r>
            <a:r>
              <a:rPr lang="pt-BR" dirty="0"/>
              <a:t> e </a:t>
            </a:r>
            <a:r>
              <a:rPr lang="pt-BR" i="1" dirty="0"/>
              <a:t>cálculos</a:t>
            </a:r>
            <a:r>
              <a:rPr lang="pt-BR" dirty="0"/>
              <a:t> do domínio (problema) que </a:t>
            </a:r>
            <a:r>
              <a:rPr lang="pt-BR" b="1" dirty="0"/>
              <a:t>independem da tela</a:t>
            </a:r>
            <a:r>
              <a:rPr lang="pt-BR" dirty="0"/>
              <a:t> e dizem “como o sistema deve se comportar” para manter consistência</a:t>
            </a:r>
          </a:p>
          <a:p>
            <a:r>
              <a:rPr lang="pt-BR" b="1" dirty="0"/>
              <a:t>Ex.:</a:t>
            </a:r>
            <a:r>
              <a:rPr lang="pt-BR" dirty="0"/>
              <a:t> “Todo Pedido deve pertencer a um Cliente”; “CPF é único”.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020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5DFF4-70FC-C397-99AF-47278E14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832D29-F8E5-12F4-2DBD-5177ABCA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regra que expressa </a:t>
            </a:r>
            <a:r>
              <a:rPr lang="pt-BR" b="1" dirty="0"/>
              <a:t>políticas, normas e restrições do negócio</a:t>
            </a:r>
            <a:r>
              <a:rPr lang="pt-BR" dirty="0"/>
              <a:t> que o sistema deve fazer cumprir, independentemente de interface ou tecnologia.</a:t>
            </a:r>
          </a:p>
          <a:p>
            <a:r>
              <a:rPr lang="pt-BR" b="1" dirty="0"/>
              <a:t>Sinais típicos:</a:t>
            </a:r>
            <a:r>
              <a:rPr lang="pt-BR" dirty="0"/>
              <a:t> “é obrigatório”, “não pode”, “somente se”, “deve”.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488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93115-D63E-DF8F-664D-8AFA0CB7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B86064-A15D-8018-BFAC-7DD83B784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b="1" dirty="0"/>
              <a:t>cálculo determinístico</a:t>
            </a:r>
            <a:r>
              <a:rPr lang="pt-BR" dirty="0"/>
              <a:t> que transforma entradas do domínio em saídas padronizadas.</a:t>
            </a:r>
          </a:p>
          <a:p>
            <a:r>
              <a:rPr lang="pt-BR" b="1" dirty="0"/>
              <a:t>Ex.:</a:t>
            </a:r>
            <a:r>
              <a:rPr lang="pt-BR" dirty="0"/>
              <a:t> “Total = soma(itens) – desconto + taxa”; “prazo = data + dias úteis”.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244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F8369-C65E-C2FD-B2F4-8786CE27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894633-1300-30FD-DF3B-E5C712603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Um </a:t>
            </a:r>
            <a:r>
              <a:rPr lang="pt-BR" dirty="0"/>
              <a:t>critério que determina </a:t>
            </a:r>
            <a:r>
              <a:rPr lang="pt-BR" b="1" dirty="0"/>
              <a:t>qual caminho o processo segue</a:t>
            </a:r>
            <a:r>
              <a:rPr lang="pt-BR" dirty="0"/>
              <a:t> (decisões de aprovação, elegibilidade, prioridade, classificação).</a:t>
            </a:r>
          </a:p>
          <a:p>
            <a:r>
              <a:rPr lang="pt-BR" b="1" dirty="0"/>
              <a:t>Ex.:</a:t>
            </a:r>
            <a:r>
              <a:rPr lang="pt-BR" dirty="0"/>
              <a:t> “Se valor &gt; X então precisa aprovação”; “se idade &lt; 18 prioridade baixa”.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411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AA464-B629-2190-B379-B6D3518E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D959FA-92AB-FFD3-1455-D2E82FDC9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</a:t>
            </a:r>
            <a:r>
              <a:rPr lang="pt-BR" dirty="0"/>
              <a:t>egras que governam </a:t>
            </a:r>
            <a:r>
              <a:rPr lang="pt-BR" b="1" dirty="0"/>
              <a:t>ordem, transições de estado e permissões do fluxo</a:t>
            </a:r>
            <a:r>
              <a:rPr lang="pt-BR" dirty="0"/>
              <a:t> (workflow).</a:t>
            </a:r>
          </a:p>
          <a:p>
            <a:r>
              <a:rPr lang="pt-BR" b="1" dirty="0"/>
              <a:t>Ex.:</a:t>
            </a:r>
            <a:r>
              <a:rPr lang="pt-BR" dirty="0"/>
              <a:t> “Pedido só pode ir para ‘Concluído’ se estiver ‘Pago’”; “não pode editar após ‘Confirmado’”.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098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4A0DE-2C8A-90E7-88F7-F3BEFE62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0135B-CC7A-B50D-7140-E03F9E459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Definição:</a:t>
            </a:r>
            <a:r>
              <a:rPr lang="pt-BR" dirty="0"/>
              <a:t> um compromisso do sistema em </a:t>
            </a:r>
            <a:r>
              <a:rPr lang="pt-BR" b="1" dirty="0"/>
              <a:t>reagir de forma previsível</a:t>
            </a:r>
            <a:r>
              <a:rPr lang="pt-BR" dirty="0"/>
              <a:t> a eventos do domínio.</a:t>
            </a:r>
          </a:p>
          <a:p>
            <a:r>
              <a:rPr lang="pt-BR" b="1" dirty="0"/>
              <a:t>Ex.:</a:t>
            </a:r>
            <a:r>
              <a:rPr lang="pt-BR" dirty="0"/>
              <a:t> “Ao confirmar pedido, o sistema registra histórico e gera comprovante”; “ao cancelar, estorna”.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533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44CE1-7FB3-A520-F303-7408F7AD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AB49AF-F92D-3ABD-BF56-F1377825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</a:t>
            </a:r>
            <a:r>
              <a:rPr lang="pt-BR" dirty="0"/>
              <a:t>egra motivada por </a:t>
            </a:r>
            <a:r>
              <a:rPr lang="pt-BR" b="1" dirty="0"/>
              <a:t>lei, auditoria, compliance, LGPD, normas internas</a:t>
            </a:r>
            <a:r>
              <a:rPr lang="pt-BR" dirty="0"/>
              <a:t>.</a:t>
            </a:r>
          </a:p>
          <a:p>
            <a:r>
              <a:rPr lang="pt-BR" b="1" dirty="0"/>
              <a:t>Ex.:</a:t>
            </a:r>
            <a:r>
              <a:rPr lang="pt-BR" dirty="0"/>
              <a:t> “Registrar log de alteração”; “exibir consentimento”; “reter dados por N dias”.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374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3360F-570B-4A0E-A9AE-A69AEC97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64F02F-5FBD-4048-549C-09258961F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</a:t>
            </a:r>
            <a:r>
              <a:rPr lang="pt-BR" dirty="0"/>
              <a:t>egra parametrizável (limites, faixas, tabelas) que pode mudar sem alterar o “conceito” do processo.</a:t>
            </a:r>
          </a:p>
          <a:p>
            <a:r>
              <a:rPr lang="pt-BR" b="1" dirty="0"/>
              <a:t>Ex.:</a:t>
            </a:r>
            <a:r>
              <a:rPr lang="pt-BR" dirty="0"/>
              <a:t> “Desconto máximo configurável por perfil”; “taxa por região”.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767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E75DA-7C18-43C2-92CA-9B3B551A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de negócio – RB (business)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60D9C4-43F2-8A58-88B6-816418543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</a:t>
            </a:r>
            <a:r>
              <a:rPr lang="pt-BR" dirty="0"/>
              <a:t>egra cuja função é </a:t>
            </a:r>
            <a:r>
              <a:rPr lang="pt-BR" b="1" dirty="0"/>
              <a:t>evitar perda</a:t>
            </a:r>
            <a:r>
              <a:rPr lang="pt-BR" dirty="0"/>
              <a:t>, fraude, erro operacional ou retrabalho (protege o negócio).</a:t>
            </a:r>
          </a:p>
          <a:p>
            <a:r>
              <a:rPr lang="pt-BR" b="1" dirty="0"/>
              <a:t>Ex.:</a:t>
            </a:r>
            <a:r>
              <a:rPr lang="pt-BR" dirty="0"/>
              <a:t> “Bloquear duplicidade”; “impedir emissão sem itens”; “validação de estoque”.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25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C58CF-8CFC-9799-4C35-11B342DE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Como usar isso no seu documento (bem objetivo)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76730E-287F-7EA1-E4EE-472EB2516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“Catálogo RB”, você pode classificar cada regra com um tipo (opcional, mas ajuda):</a:t>
            </a:r>
          </a:p>
          <a:p>
            <a:r>
              <a:rPr lang="pt-BR" dirty="0"/>
              <a:t>RB-02 (Decisão) — Aprovação obrigatória acima de X</a:t>
            </a:r>
          </a:p>
          <a:p>
            <a:r>
              <a:rPr lang="pt-BR" dirty="0"/>
              <a:t>RB-04 (Integridade) — Pedido deve ter Cliente</a:t>
            </a:r>
          </a:p>
          <a:p>
            <a:r>
              <a:rPr lang="pt-BR" dirty="0"/>
              <a:t>RB-01 (Cálculo) — Total do pedido</a:t>
            </a:r>
          </a:p>
          <a:p>
            <a:r>
              <a:rPr lang="pt-BR" dirty="0"/>
              <a:t>RB-10 (Workflow) — Transições de status permitidas</a:t>
            </a:r>
          </a:p>
        </p:txBody>
      </p:sp>
    </p:spTree>
    <p:extLst>
      <p:ext uri="{BB962C8B-B14F-4D97-AF65-F5344CB8AC3E}">
        <p14:creationId xmlns:p14="http://schemas.microsoft.com/office/powerpoint/2010/main" val="68949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A9496-D0FD-2F2F-7182-FB841129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D6094A-35EB-23B8-7542-3065D481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formato simples para documentar: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RB-01 — Nome curto da regra</a:t>
            </a:r>
            <a:endParaRPr lang="pt-BR" dirty="0"/>
          </a:p>
          <a:p>
            <a:pPr lvl="1"/>
            <a:r>
              <a:rPr lang="pt-BR" b="1" dirty="0"/>
              <a:t>Descrição:</a:t>
            </a:r>
            <a:r>
              <a:rPr lang="pt-BR" dirty="0"/>
              <a:t> frase objetiva (normativa)</a:t>
            </a:r>
          </a:p>
          <a:p>
            <a:pPr lvl="1"/>
            <a:r>
              <a:rPr lang="pt-BR" b="1" dirty="0"/>
              <a:t>Origem:</a:t>
            </a:r>
            <a:r>
              <a:rPr lang="pt-BR" dirty="0"/>
              <a:t> de onde veio (mapa/fluxo/dado/cliente)</a:t>
            </a:r>
          </a:p>
          <a:p>
            <a:pPr lvl="1"/>
            <a:r>
              <a:rPr lang="pt-BR" b="1" dirty="0"/>
              <a:t>Dados envolvidos:</a:t>
            </a:r>
            <a:r>
              <a:rPr lang="pt-BR" dirty="0"/>
              <a:t> entidades/campos</a:t>
            </a:r>
          </a:p>
          <a:p>
            <a:pPr lvl="1"/>
            <a:r>
              <a:rPr lang="pt-BR" b="1" dirty="0"/>
              <a:t>Validação:</a:t>
            </a:r>
            <a:r>
              <a:rPr lang="pt-BR" dirty="0"/>
              <a:t> como testar/checar (ex.: erro, bloqueio, alerta)</a:t>
            </a:r>
          </a:p>
          <a:p>
            <a:pPr lvl="1"/>
            <a:r>
              <a:rPr lang="pt-BR" b="1" dirty="0"/>
              <a:t>Nível de importância</a:t>
            </a:r>
            <a:r>
              <a:rPr lang="pt-BR" dirty="0"/>
              <a:t>: baixa, média, alta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9418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6ECBA-3755-C7D4-FF7E-45635D41E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Como identificar </a:t>
            </a:r>
            <a:r>
              <a:rPr lang="pt-BR" b="1" dirty="0" err="1"/>
              <a:t>RBs</a:t>
            </a:r>
            <a:r>
              <a:rPr lang="pt-BR" b="1" dirty="0"/>
              <a:t> usando os mapas que você já tem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F02639-4992-C399-4E16-9BDC0BA09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383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FE5C-A158-2F8C-E57E-E66F9351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Pelo Mapa de Fluxos</a:t>
            </a:r>
            <a:br>
              <a:rPr lang="pt-BR" b="1" dirty="0"/>
            </a:br>
            <a:r>
              <a:rPr lang="pt-BR" b="1" dirty="0"/>
              <a:t> (jornadas/</a:t>
            </a:r>
            <a:r>
              <a:rPr lang="pt-BR" b="1" dirty="0" err="1"/>
              <a:t>happy</a:t>
            </a:r>
            <a:r>
              <a:rPr lang="pt-BR" b="1" dirty="0"/>
              <a:t> path + exceções)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D1A3FB-FD7A-EA2B-F7ED-6B771C93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Tudo que aparece como:</a:t>
            </a:r>
          </a:p>
          <a:p>
            <a:pPr lvl="1"/>
            <a:r>
              <a:rPr lang="pt-BR" dirty="0"/>
              <a:t>“o sistema calcula…”</a:t>
            </a:r>
          </a:p>
          <a:p>
            <a:pPr lvl="1"/>
            <a:r>
              <a:rPr lang="pt-BR" dirty="0"/>
              <a:t>“o sistema valida…”</a:t>
            </a:r>
          </a:p>
          <a:p>
            <a:pPr lvl="1"/>
            <a:r>
              <a:rPr lang="pt-BR" dirty="0"/>
              <a:t>“se X acontecer…”</a:t>
            </a:r>
          </a:p>
          <a:p>
            <a:pPr lvl="1"/>
            <a:r>
              <a:rPr lang="pt-BR" dirty="0"/>
              <a:t>“exceção: desconto inválido / sem estoque…”</a:t>
            </a:r>
          </a:p>
          <a:p>
            <a:r>
              <a:rPr lang="pt-BR" dirty="0"/>
              <a:t>vira candidato a RB.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449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5D97D-0EB3-F0B9-0E7F-802CCA91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Pelo Mapa de Fluxos</a:t>
            </a:r>
            <a:br>
              <a:rPr lang="pt-BR" b="1" dirty="0"/>
            </a:br>
            <a:r>
              <a:rPr lang="pt-BR" b="1" dirty="0"/>
              <a:t> (jornadas/</a:t>
            </a:r>
            <a:r>
              <a:rPr lang="pt-BR" b="1" dirty="0" err="1"/>
              <a:t>happy</a:t>
            </a:r>
            <a:r>
              <a:rPr lang="pt-BR" b="1" dirty="0"/>
              <a:t> path + exceções)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BF7D2-2ED7-10FD-4BB9-C47B29D4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seu fluxo “Criar pedido” você já tem pontos claros: “calcular total” e exceções como “desconto inválido” / “sem estoque”. Isso vira regras RB, porque define comportamento obrigatório.  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Exemplos de RB derivadas do fluxo:</a:t>
            </a:r>
            <a:endParaRPr lang="pt-BR" dirty="0"/>
          </a:p>
          <a:p>
            <a:r>
              <a:rPr lang="pt-BR" dirty="0"/>
              <a:t>RB-01 — Cálculo do total do pedido</a:t>
            </a:r>
          </a:p>
          <a:p>
            <a:r>
              <a:rPr lang="pt-BR" dirty="0"/>
              <a:t>RB-02 — Bloqueio de desconto inválido</a:t>
            </a:r>
          </a:p>
          <a:p>
            <a:r>
              <a:rPr lang="pt-BR" dirty="0"/>
              <a:t>RB-03 — Restrição por estoque (se existir no seu domínio)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650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0812C-32B5-67DA-3A96-95D167C4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Pelo Mapa de Dados</a:t>
            </a:r>
            <a:br>
              <a:rPr lang="pt-BR" b="1" dirty="0"/>
            </a:br>
            <a:r>
              <a:rPr lang="pt-BR" b="1" dirty="0"/>
              <a:t> (entidades/relacionamentos/campos)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73C2A8-91EF-AFCA-34E2-CBF05AF46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Aqui você caça regras de:</a:t>
            </a:r>
          </a:p>
          <a:p>
            <a:pPr lvl="1"/>
            <a:r>
              <a:rPr lang="pt-BR" b="1" dirty="0"/>
              <a:t>integridade</a:t>
            </a:r>
            <a:r>
              <a:rPr lang="pt-BR" dirty="0"/>
              <a:t> (ex.: “Pedido precisa pertencer a um Cliente”)</a:t>
            </a:r>
          </a:p>
          <a:p>
            <a:pPr lvl="1"/>
            <a:r>
              <a:rPr lang="pt-BR" b="1" dirty="0"/>
              <a:t>cardinalidade</a:t>
            </a:r>
            <a:r>
              <a:rPr lang="pt-BR" dirty="0"/>
              <a:t> (1:N, obrigatório </a:t>
            </a:r>
            <a:r>
              <a:rPr lang="pt-BR" dirty="0" err="1"/>
              <a:t>vs</a:t>
            </a:r>
            <a:r>
              <a:rPr lang="pt-BR" dirty="0"/>
              <a:t> opcional)</a:t>
            </a:r>
          </a:p>
          <a:p>
            <a:pPr lvl="1"/>
            <a:r>
              <a:rPr lang="pt-BR" b="1" dirty="0"/>
              <a:t>estado</a:t>
            </a:r>
            <a:r>
              <a:rPr lang="pt-BR" dirty="0"/>
              <a:t> (status permitido, transições)</a:t>
            </a:r>
          </a:p>
          <a:p>
            <a:pPr lvl="1"/>
            <a:r>
              <a:rPr lang="pt-BR" b="1" dirty="0"/>
              <a:t>unicidade</a:t>
            </a:r>
            <a:r>
              <a:rPr lang="pt-BR" dirty="0"/>
              <a:t> (CPF único, número do pedido único)</a:t>
            </a:r>
          </a:p>
          <a:p>
            <a:pPr lvl="1"/>
            <a:r>
              <a:rPr lang="pt-BR" b="1" dirty="0"/>
              <a:t>obrigatoriedade</a:t>
            </a:r>
            <a:r>
              <a:rPr lang="pt-BR" dirty="0"/>
              <a:t> (campos obrigatórios)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6874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3EB8D-5C17-EF1A-9B35-709B37D0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Pelo Mapa de Dados</a:t>
            </a:r>
            <a:br>
              <a:rPr lang="pt-BR" b="1" dirty="0"/>
            </a:br>
            <a:r>
              <a:rPr lang="pt-BR" b="1" dirty="0"/>
              <a:t> (entidades/relacionamentos/campos)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87E2E7-F5D6-F821-A354-08EEC4D25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Seu mapa já indica “Cliente tem muitos Pedidos” e “Pedido tem muitos Itens” e “Pagamento pertence a Pedido”. Isso praticamente grita regras RB de integridade: não existe Pedido sem Cliente, não existe Item sem Pedido, Pagamento sempre vinculado.  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Exemplos de RB derivadas do mapa de dados:</a:t>
            </a:r>
            <a:endParaRPr lang="pt-BR" dirty="0"/>
          </a:p>
          <a:p>
            <a:r>
              <a:rPr lang="pt-BR" dirty="0"/>
              <a:t>RB-04 — Todo Pedido deve estar vinculado a exatamente 1 Cliente</a:t>
            </a:r>
          </a:p>
          <a:p>
            <a:r>
              <a:rPr lang="pt-BR" dirty="0"/>
              <a:t>RB-05 — Um Pedido deve possuir ao menos 1 Item para ser confirmado</a:t>
            </a:r>
          </a:p>
          <a:p>
            <a:r>
              <a:rPr lang="pt-BR" dirty="0"/>
              <a:t>RB-06 — Pagamento só pode existir se o Pedido existir (e pertence a 1 Pedido)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576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BA43F-A0DA-7CE4-74B2-D8ABE373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Pelo Mapa de Objetivos/Personas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37FC5-221E-AE93-CDD5-71BD286C2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a persona tem uma necessidade do tipo:</a:t>
            </a:r>
          </a:p>
          <a:p>
            <a:pPr lvl="1"/>
            <a:r>
              <a:rPr lang="pt-BR" dirty="0"/>
              <a:t>“preciso aprovar antes de fechar”</a:t>
            </a:r>
          </a:p>
          <a:p>
            <a:pPr lvl="1"/>
            <a:r>
              <a:rPr lang="pt-BR" dirty="0"/>
              <a:t>“quero rastreabilidade”</a:t>
            </a:r>
          </a:p>
          <a:p>
            <a:pPr lvl="1"/>
            <a:r>
              <a:rPr lang="pt-BR" dirty="0"/>
              <a:t>“não posso ver pedidos de outro usuário”</a:t>
            </a:r>
          </a:p>
          <a:p>
            <a:pPr lvl="1"/>
            <a:r>
              <a:rPr lang="pt-BR" dirty="0"/>
              <a:t>isso costuma virar RB de </a:t>
            </a:r>
            <a:r>
              <a:rPr lang="pt-BR" b="1" dirty="0"/>
              <a:t>permissão</a:t>
            </a:r>
            <a:r>
              <a:rPr lang="pt-BR" dirty="0"/>
              <a:t>, </a:t>
            </a:r>
            <a:r>
              <a:rPr lang="pt-BR" b="1" dirty="0"/>
              <a:t>papéis</a:t>
            </a:r>
            <a:r>
              <a:rPr lang="pt-BR" dirty="0"/>
              <a:t> e </a:t>
            </a:r>
            <a:r>
              <a:rPr lang="pt-BR" b="1" dirty="0"/>
              <a:t>auditoria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1675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909</Words>
  <Application>Microsoft Macintosh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do Office</vt:lpstr>
      <vt:lpstr>Regras de Negócio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Regra de negócio – RB (business)</vt:lpstr>
      <vt:lpstr>Como usar isso no seu documento (bem objetivo)</vt:lpstr>
      <vt:lpstr>RB</vt:lpstr>
      <vt:lpstr>Como identificar RBs usando os mapas que você já tem</vt:lpstr>
      <vt:lpstr>Pelo Mapa de Fluxos  (jornadas/happy path + exceções)</vt:lpstr>
      <vt:lpstr>Pelo Mapa de Fluxos  (jornadas/happy path + exceções)</vt:lpstr>
      <vt:lpstr>Pelo Mapa de Dados  (entidades/relacionamentos/campos)</vt:lpstr>
      <vt:lpstr>Pelo Mapa de Dados  (entidades/relacionamentos/campos)</vt:lpstr>
      <vt:lpstr>Pelo Mapa de Objetivos/Personas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3</cp:revision>
  <dcterms:created xsi:type="dcterms:W3CDTF">2026-03-01T21:44:27Z</dcterms:created>
  <dcterms:modified xsi:type="dcterms:W3CDTF">2026-03-01T22:14:39Z</dcterms:modified>
</cp:coreProperties>
</file>