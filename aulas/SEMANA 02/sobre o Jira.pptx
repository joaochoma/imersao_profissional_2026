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100" d="100"/>
          <a:sy n="100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3BFDA-4DAF-8033-1994-575FABA7E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8B3FF9-7FAF-8C07-ABFD-B02E39433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FF559F-7D64-CCA6-9DA9-1A8A30E7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8B319D-C3A1-818A-EFE4-F8B78DE9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8CCED-2D0F-2F4A-B38F-B075F3C6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74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450C0-6A4D-80E4-1642-0A6FA679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2CF3BB-5C97-1DCC-04A5-0DF7A34A1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3A8BE5-418B-8867-0510-5D34DFDE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988040-E79C-64C9-8984-DCA7DD94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754AE7-8CF1-B4F8-D946-1AADAE58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993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99401-2A6A-E277-A3F5-95711292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699D57-1E27-D0C1-223F-DA03337EF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3B08F0-4360-0BC7-4A4C-C8EFFECD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0499B-3E6B-5FDB-2B61-CD484362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A9E512-7358-018C-EE54-F6539A22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44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983FA-6C78-B69F-CEE0-A36D475D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9F659B-DC8A-51C9-D595-DACCD76BB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6D13CA-BFC1-5D6C-BE52-87F882C56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0E3CD9-95F3-2E8A-BB5C-1F5469DC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4CAFF5-BB89-CA32-4F7C-22A21484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76A3EF-4738-DC68-1798-B1FA3C73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61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EAB11-BD6C-0304-FE88-AEF83CA0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929F3C-96DA-F1C9-BD45-9830A757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929301-6105-0AD1-AE3B-511C3B046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4EA90C-B913-2C92-A15F-8589616B4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31EF62-F1BB-AFCA-E044-979797C49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443192-2542-52E5-F10D-206E6487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A7A40C-7A67-9116-3246-643E805C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D2BE5B-09FB-499A-60D7-B7DCCCE7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73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4B0F7-D66E-4C24-EB7A-08F257D4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C60CE9-05B7-EDDB-3F37-A5D174CB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19BABC-24D4-EB25-3A49-05227B93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006DF23-1CDD-3432-1EDB-4A3EAC0A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49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6C28BCB-5C23-325B-F7D6-FF1E04B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28B153-481C-E89E-BE12-A6237F91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38A7E3-F030-B813-C15F-1EB5FDB4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79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56146-65B2-52B0-05B6-CED4D3A8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8B5859-CC26-7158-1BA8-DC522FF9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46A5F0-A660-D4CE-B0DF-E135A22E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E1E54B-8DF4-677A-F265-35C38477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53F472-FE53-05DE-8AA3-EFE5C55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7114C2-ED10-D934-70BA-34302BBD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00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AC9CE-2224-E3E3-87E0-45BF6585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86A1A7-E603-D0DC-B604-B3F6B26D6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1E6338-7945-D685-00F3-5452831AD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C9A302-A249-921A-76B8-618E039B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B2BE25-A6B9-1901-7E37-31D2E1A8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45E3F9-8AC7-0D44-915B-833A2503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94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BC068-C3DF-BC9B-FA2D-C2F78659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76A2C0-775F-CCAF-CE7A-837F0FB60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8B262E-4F03-C8B1-2B9B-F51DA616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56CFC0-5AA8-40AF-3AAA-BA766D8D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842D6D-C502-0D5E-D99C-9DE28B81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97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B6753-51CE-B10E-C18F-40DE38928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393827-44B7-EB95-9F86-F9BCD5A89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5DD35-F859-C6E2-F4A6-105431F9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B52CC-F877-FD84-5AB5-A935067D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5AE63C-6F32-6288-9EB8-07F9229F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6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FD93F0-B861-7DE4-3A35-72ABF150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084C4A-1086-1796-B3B1-D3E7424A6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20E0C0-C7D2-630B-F674-EA3696DBB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C02A7-A84F-0B4D-B00B-C0C13E41BBDA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7770CB-B123-C5D4-8F96-70F7B7C6A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971085-BFD1-DCA2-17A4-EDAFDEB84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A4AF0-2EC4-3D4D-B331-A354BAD524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34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br/software/jir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6A146-CB84-0E86-C401-23C45806E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JIRA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D265E2-0076-7581-CED0-9128A5311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97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A8B34-50A0-C44E-A507-296B0F17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D9E4AE-114B-687F-08E0-8CB11CBFE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https://www.atlassian.com/br/software/jira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Cada membro do grupo deve se cadastrar no </a:t>
            </a:r>
            <a:r>
              <a:rPr lang="pt-BR" dirty="0" err="1"/>
              <a:t>Jira</a:t>
            </a:r>
            <a:endParaRPr lang="pt-BR" dirty="0"/>
          </a:p>
          <a:p>
            <a:endParaRPr lang="pt-BR" dirty="0"/>
          </a:p>
          <a:p>
            <a:r>
              <a:rPr lang="pt-BR" dirty="0"/>
              <a:t>Somente um membro irá criar o projeto e convidar os outros para participar</a:t>
            </a:r>
          </a:p>
        </p:txBody>
      </p:sp>
    </p:spTree>
    <p:extLst>
      <p:ext uri="{BB962C8B-B14F-4D97-AF65-F5344CB8AC3E}">
        <p14:creationId xmlns:p14="http://schemas.microsoft.com/office/powerpoint/2010/main" val="251060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79CE4-EA57-304C-78F1-79B782C2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Passos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18A954-F9ED-E751-4F75-5ADEF2DB7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Usar projeto Scrum</a:t>
            </a:r>
          </a:p>
          <a:p>
            <a:endParaRPr lang="pt-BR" dirty="0"/>
          </a:p>
          <a:p>
            <a:r>
              <a:rPr lang="pt-BR" dirty="0"/>
              <a:t>Usar tarefas e histórias de usuário</a:t>
            </a:r>
          </a:p>
          <a:p>
            <a:endParaRPr lang="pt-BR" dirty="0"/>
          </a:p>
          <a:p>
            <a:r>
              <a:rPr lang="pt-BR" dirty="0"/>
              <a:t>Esse é um exemplo do meu espaço </a:t>
            </a:r>
            <a:r>
              <a:rPr lang="pt-BR" dirty="0" err="1"/>
              <a:t>Jira</a:t>
            </a:r>
            <a:endParaRPr lang="pt-BR" dirty="0"/>
          </a:p>
          <a:p>
            <a:pPr lvl="1"/>
            <a:r>
              <a:rPr lang="pt-BR" dirty="0"/>
              <a:t>https://</a:t>
            </a:r>
            <a:r>
              <a:rPr lang="pt-BR" dirty="0" err="1"/>
              <a:t>joaochoma.atlassian.net</a:t>
            </a:r>
            <a:r>
              <a:rPr lang="pt-BR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82831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8AACD-4532-F1F3-6739-F1810B64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no </a:t>
            </a:r>
            <a:r>
              <a:rPr lang="pt-BR" dirty="0" err="1"/>
              <a:t>Jira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238C5C-C2D5-EBB5-2A82-4C13498A9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b="1" dirty="0" err="1"/>
              <a:t>Jira</a:t>
            </a:r>
            <a:r>
              <a:rPr lang="pt-BR" dirty="0"/>
              <a:t>, um </a:t>
            </a:r>
            <a:r>
              <a:rPr lang="pt-BR" b="1" dirty="0"/>
              <a:t>projeto Scrum</a:t>
            </a:r>
            <a:r>
              <a:rPr lang="pt-BR" dirty="0"/>
              <a:t> é um tipo de projeto pensado para trabalhar em </a:t>
            </a:r>
            <a:r>
              <a:rPr lang="pt-BR" b="1" dirty="0"/>
              <a:t>sprints</a:t>
            </a:r>
            <a:r>
              <a:rPr lang="pt-BR" dirty="0"/>
              <a:t> (iterações com começo e fim), usando principalmente </a:t>
            </a:r>
            <a:r>
              <a:rPr lang="pt-BR" b="1" dirty="0"/>
              <a:t>Backlog</a:t>
            </a:r>
            <a:r>
              <a:rPr lang="pt-BR" dirty="0"/>
              <a:t> + </a:t>
            </a:r>
            <a:r>
              <a:rPr lang="pt-BR" b="1" dirty="0"/>
              <a:t>Sprint</a:t>
            </a:r>
            <a:r>
              <a:rPr lang="pt-BR" dirty="0"/>
              <a:t> + </a:t>
            </a:r>
            <a:r>
              <a:rPr lang="pt-BR" b="1" dirty="0"/>
              <a:t>Board</a:t>
            </a:r>
            <a:r>
              <a:rPr lang="pt-BR" dirty="0"/>
              <a:t> (quadro).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966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DF61F-DFE0-C409-BB56-ED4028EF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Dentro do projeto Scrum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F075DA-21DA-11A8-2A01-DB196FF93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Backlog</a:t>
            </a:r>
            <a:r>
              <a:rPr lang="pt-BR" dirty="0"/>
              <a:t>: onde ficam os itens “a fazer”, ordenados por prioridade; você arrasta itens para um </a:t>
            </a:r>
            <a:r>
              <a:rPr lang="pt-BR" b="1" dirty="0"/>
              <a:t>Sprint</a:t>
            </a:r>
            <a:r>
              <a:rPr lang="pt-BR" dirty="0"/>
              <a:t> quando for planejar.  </a:t>
            </a:r>
          </a:p>
          <a:p>
            <a:r>
              <a:rPr lang="pt-BR" b="1" dirty="0"/>
              <a:t>Sprints</a:t>
            </a:r>
            <a:r>
              <a:rPr lang="pt-BR" dirty="0"/>
              <a:t>: “pacotes de trabalho” com duração fixa (1–4 semanas, típico) e objetivo. Sprint Planning define o que entra e como será feito.  </a:t>
            </a:r>
          </a:p>
          <a:p>
            <a:r>
              <a:rPr lang="pt-BR" b="1" dirty="0"/>
              <a:t>Board</a:t>
            </a:r>
            <a:r>
              <a:rPr lang="pt-BR" dirty="0"/>
              <a:t>: visualização do sprint (</a:t>
            </a:r>
            <a:r>
              <a:rPr lang="pt-BR" dirty="0" err="1"/>
              <a:t>To</a:t>
            </a:r>
            <a:r>
              <a:rPr lang="pt-BR" dirty="0"/>
              <a:t> do / In </a:t>
            </a:r>
            <a:r>
              <a:rPr lang="pt-BR" dirty="0" err="1"/>
              <a:t>progress</a:t>
            </a:r>
            <a:r>
              <a:rPr lang="pt-BR" dirty="0"/>
              <a:t> / </a:t>
            </a:r>
            <a:r>
              <a:rPr lang="pt-BR" dirty="0" err="1"/>
              <a:t>Done</a:t>
            </a:r>
            <a:r>
              <a:rPr lang="pt-BR" dirty="0"/>
              <a:t> ou fluxo similar), para acompanhar o andamento.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82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23DDC-4645-5179-6E9C-B6E54515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C85FDA-278A-F810-805F-49BA04DF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Epic → (Story/Task/Bug) → </a:t>
            </a:r>
            <a:r>
              <a:rPr lang="pt-BR" b="1" dirty="0" err="1"/>
              <a:t>Sub-task</a:t>
            </a:r>
            <a:endParaRPr lang="pt-BR" b="1" dirty="0"/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Epic</a:t>
            </a:r>
            <a:r>
              <a:rPr lang="pt-BR" dirty="0"/>
              <a:t>: entrega grande (ex.: “Módulo de Orçamentos e Reimpressão”) que vai gerar várias entregas menores.  </a:t>
            </a:r>
          </a:p>
          <a:p>
            <a:r>
              <a:rPr lang="pt-BR" b="1" dirty="0"/>
              <a:t>Story</a:t>
            </a:r>
            <a:r>
              <a:rPr lang="pt-BR" dirty="0"/>
              <a:t>: algo em “linguagem do usuário” (valor/funcionalidade).</a:t>
            </a:r>
          </a:p>
          <a:p>
            <a:r>
              <a:rPr lang="pt-BR" b="1" dirty="0"/>
              <a:t>Task</a:t>
            </a:r>
            <a:r>
              <a:rPr lang="pt-BR" dirty="0"/>
              <a:t>: trabalho técnico/atividade interna (ex.: “Configurar pipeline CI”, “Refatorar serviço X”).</a:t>
            </a:r>
          </a:p>
          <a:p>
            <a:r>
              <a:rPr lang="pt-BR" b="1" dirty="0" err="1"/>
              <a:t>Sub-task</a:t>
            </a:r>
            <a:r>
              <a:rPr lang="pt-BR" dirty="0"/>
              <a:t>: passos menores para concluir uma Story/Task (ex.: “Criar </a:t>
            </a:r>
            <a:r>
              <a:rPr lang="pt-BR" dirty="0" err="1"/>
              <a:t>endpoint</a:t>
            </a:r>
            <a:r>
              <a:rPr lang="pt-BR" dirty="0"/>
              <a:t>”, “Criar tela”, “Escrever testes”). 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629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12EA6-FE4E-D9FA-D06C-E8C867B9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Epic: “Listagem e reimpressão de orçamentos”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DF5E7-8E21-9F37-423E-F8CE661A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listar orçamentos com filtros</a:t>
            </a:r>
          </a:p>
          <a:p>
            <a:r>
              <a:rPr lang="pt-BR" dirty="0"/>
              <a:t>visualizar detalhes</a:t>
            </a:r>
          </a:p>
          <a:p>
            <a:r>
              <a:rPr lang="pt-BR" dirty="0"/>
              <a:t>reimprimir (PDF/print)</a:t>
            </a:r>
          </a:p>
          <a:p>
            <a:r>
              <a:rPr lang="pt-BR" dirty="0"/>
              <a:t>logs/testes e validações concluídos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96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996B7-E7A5-172D-8180-04D1B7CD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Stories (adaptando casos de uso)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F3E62B-823E-62DF-60F5-A242A9B6A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UC-01 / Story:</a:t>
            </a:r>
            <a:r>
              <a:rPr lang="pt-BR" dirty="0"/>
              <a:t> “Como usuário, quero listar orçamentos para localizar rapidamente um registro”</a:t>
            </a:r>
          </a:p>
          <a:p>
            <a:pPr lvl="1"/>
            <a:r>
              <a:rPr lang="pt-BR" dirty="0"/>
              <a:t>Aceitação: paginação, filtro por data/cliente, ordenação</a:t>
            </a:r>
          </a:p>
          <a:p>
            <a:r>
              <a:rPr lang="pt-BR" b="1" dirty="0"/>
              <a:t>UC-02 / Story:</a:t>
            </a:r>
            <a:r>
              <a:rPr lang="pt-BR" dirty="0"/>
              <a:t> “Como usuário, quero abrir detalhes do orçamento para conferir itens e valores”</a:t>
            </a:r>
          </a:p>
          <a:p>
            <a:r>
              <a:rPr lang="pt-BR" b="1" dirty="0"/>
              <a:t>UC-03 / Story:</a:t>
            </a:r>
            <a:r>
              <a:rPr lang="pt-BR" dirty="0"/>
              <a:t> “Como usuário, quero reimprimir o orçamento para enviar ao cliente”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1707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FFDB0-ECBD-2B27-E9EC-954CCBA3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Tasks</a:t>
            </a:r>
            <a:r>
              <a:rPr lang="pt-BR" b="1" dirty="0"/>
              <a:t> técnicas (se precisar)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DD5441-C951-04D6-94BE-747946B8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“Padronizar </a:t>
            </a:r>
            <a:r>
              <a:rPr lang="pt-BR" dirty="0" err="1"/>
              <a:t>template</a:t>
            </a:r>
            <a:r>
              <a:rPr lang="pt-BR" dirty="0"/>
              <a:t> de impressão”</a:t>
            </a:r>
          </a:p>
          <a:p>
            <a:r>
              <a:rPr lang="pt-BR" dirty="0"/>
              <a:t>“Criar </a:t>
            </a:r>
            <a:r>
              <a:rPr lang="pt-BR" dirty="0" err="1"/>
              <a:t>endpoint</a:t>
            </a:r>
            <a:r>
              <a:rPr lang="pt-BR" dirty="0"/>
              <a:t> de exportação”</a:t>
            </a:r>
          </a:p>
          <a:p>
            <a:r>
              <a:rPr lang="pt-BR" dirty="0"/>
              <a:t>“Ajustar permissões de acesso”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067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020CA-8888-D2B6-0710-4063F2F9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Sub-tasks</a:t>
            </a:r>
            <a:r>
              <a:rPr lang="pt-BR" b="1" dirty="0"/>
              <a:t> por story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F91C63-2298-C4C0-2B1C-B7CE00E0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UI (tela / componente)</a:t>
            </a:r>
          </a:p>
          <a:p>
            <a:r>
              <a:rPr lang="pt-BR" dirty="0"/>
              <a:t>API (</a:t>
            </a:r>
            <a:r>
              <a:rPr lang="pt-BR" dirty="0" err="1"/>
              <a:t>endpoint</a:t>
            </a:r>
            <a:r>
              <a:rPr lang="pt-BR" dirty="0"/>
              <a:t>/serviço)</a:t>
            </a:r>
          </a:p>
          <a:p>
            <a:r>
              <a:rPr lang="pt-BR" dirty="0"/>
              <a:t>Persistência (query / index)</a:t>
            </a:r>
          </a:p>
          <a:p>
            <a:r>
              <a:rPr lang="pt-BR" dirty="0"/>
              <a:t>Testes (</a:t>
            </a:r>
            <a:r>
              <a:rPr lang="pt-BR" dirty="0" err="1"/>
              <a:t>unit</a:t>
            </a:r>
            <a:r>
              <a:rPr lang="pt-BR" dirty="0"/>
              <a:t>/</a:t>
            </a:r>
            <a:r>
              <a:rPr lang="pt-BR" dirty="0" err="1"/>
              <a:t>integration</a:t>
            </a:r>
            <a:r>
              <a:rPr lang="pt-BR" dirty="0"/>
              <a:t>)</a:t>
            </a:r>
          </a:p>
          <a:p>
            <a:r>
              <a:rPr lang="pt-BR" dirty="0"/>
              <a:t>Revisão/QA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0595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B008D-5F94-CF8B-0210-C013A4AA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Como isso vira Sprint (planejamento)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F94D71-E382-394C-3114-DE5E372F8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b="1" dirty="0"/>
              <a:t>Sprint Planning</a:t>
            </a:r>
            <a:r>
              <a:rPr lang="pt-BR" dirty="0"/>
              <a:t>, você:</a:t>
            </a:r>
          </a:p>
          <a:p>
            <a:pPr lvl="1"/>
            <a:r>
              <a:rPr lang="pt-BR" dirty="0"/>
              <a:t>define o </a:t>
            </a:r>
            <a:r>
              <a:rPr lang="pt-BR" b="1" dirty="0"/>
              <a:t>Sprint </a:t>
            </a:r>
            <a:r>
              <a:rPr lang="pt-BR" b="1" dirty="0" err="1"/>
              <a:t>Goal</a:t>
            </a:r>
            <a:r>
              <a:rPr lang="pt-BR" dirty="0"/>
              <a:t> (objetivo do sprint),</a:t>
            </a:r>
          </a:p>
          <a:p>
            <a:pPr lvl="1"/>
            <a:r>
              <a:rPr lang="pt-BR" dirty="0"/>
              <a:t>seleciona </a:t>
            </a:r>
            <a:r>
              <a:rPr lang="pt-BR" b="1" dirty="0"/>
              <a:t>Stories/</a:t>
            </a:r>
            <a:r>
              <a:rPr lang="pt-BR" b="1" dirty="0" err="1"/>
              <a:t>Tasks</a:t>
            </a:r>
            <a:r>
              <a:rPr lang="pt-BR" dirty="0"/>
              <a:t> do backlog que cabem na capacidade,</a:t>
            </a:r>
          </a:p>
          <a:p>
            <a:pPr lvl="1"/>
            <a:r>
              <a:rPr lang="pt-BR" dirty="0"/>
              <a:t>detalha “como fazer” (</a:t>
            </a:r>
            <a:r>
              <a:rPr lang="pt-BR" dirty="0" err="1"/>
              <a:t>sub-tasks</a:t>
            </a:r>
            <a:r>
              <a:rPr lang="pt-BR" dirty="0"/>
              <a:t>), estimando esforço. 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5519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FB9DD-7A79-AC4F-0B19-A0CFDDA4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Como encaixar “Casos de Uso” (UML) dentro do </a:t>
            </a:r>
            <a:r>
              <a:rPr lang="pt-BR" b="1" dirty="0" err="1"/>
              <a:t>Jira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3ABB9B-D37F-6EA7-2DD3-CD6395AA1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Opção 1 (mais comum): Caso de Uso = Story (ou conjunto de Stories)</a:t>
            </a:r>
          </a:p>
          <a:p>
            <a:r>
              <a:rPr lang="pt-BR" b="1" dirty="0"/>
              <a:t>Epic</a:t>
            </a:r>
            <a:r>
              <a:rPr lang="pt-BR" dirty="0"/>
              <a:t> = “Módulo X”</a:t>
            </a:r>
          </a:p>
          <a:p>
            <a:r>
              <a:rPr lang="pt-BR" b="1" dirty="0"/>
              <a:t>Caso de Uso (UC)</a:t>
            </a:r>
            <a:r>
              <a:rPr lang="pt-BR" dirty="0"/>
              <a:t> vira uma </a:t>
            </a:r>
            <a:r>
              <a:rPr lang="pt-BR" b="1" dirty="0"/>
              <a:t>Story</a:t>
            </a:r>
            <a:r>
              <a:rPr lang="pt-BR" dirty="0"/>
              <a:t> (ou uma Story “guarda-chuva”)</a:t>
            </a:r>
          </a:p>
          <a:p>
            <a:r>
              <a:rPr lang="pt-BR" dirty="0"/>
              <a:t>Cenários/fluxos (principal e alternativos) viram </a:t>
            </a:r>
            <a:r>
              <a:rPr lang="pt-BR" b="1" dirty="0" err="1"/>
              <a:t>sub-tasks</a:t>
            </a:r>
            <a:r>
              <a:rPr lang="pt-BR" dirty="0"/>
              <a:t> ou </a:t>
            </a:r>
            <a:r>
              <a:rPr lang="pt-BR" b="1" dirty="0"/>
              <a:t>critérios de aceitação</a:t>
            </a:r>
            <a:r>
              <a:rPr lang="pt-BR" dirty="0"/>
              <a:t> da Story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755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97C47-7F30-56DD-C714-09B57162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B3E81-D1A3-042D-FDBD-6C59B8DE8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Epic:</a:t>
            </a:r>
            <a:r>
              <a:rPr lang="pt-BR" dirty="0"/>
              <a:t> “Orçamentos”</a:t>
            </a:r>
          </a:p>
          <a:p>
            <a:pPr lvl="1"/>
            <a:r>
              <a:rPr lang="pt-BR" b="1" dirty="0"/>
              <a:t>Story (UC-01):</a:t>
            </a:r>
            <a:r>
              <a:rPr lang="pt-BR" dirty="0"/>
              <a:t> “Cadastrar orçamento”</a:t>
            </a:r>
          </a:p>
          <a:p>
            <a:pPr lvl="1"/>
            <a:r>
              <a:rPr lang="pt-BR" dirty="0"/>
              <a:t>Critérios de aceitação: fluxo principal + alternativos</a:t>
            </a:r>
          </a:p>
          <a:p>
            <a:pPr lvl="1"/>
            <a:r>
              <a:rPr lang="pt-BR" dirty="0" err="1"/>
              <a:t>Sub-tasks</a:t>
            </a:r>
            <a:r>
              <a:rPr lang="pt-BR" dirty="0"/>
              <a:t>: UI, API, testes, persistência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501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6154B-4682-0899-6739-D2975016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Opção 2: Caso de Uso = Task e as Stories viram “fatias”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CABB2-D3B2-3D27-80AD-07AD67E5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Use quando o “caso de uso” é amplo e você quer entregar em partes:</a:t>
            </a:r>
          </a:p>
          <a:p>
            <a:r>
              <a:rPr lang="pt-BR" b="1" dirty="0"/>
              <a:t>Task (UC-01)</a:t>
            </a:r>
            <a:r>
              <a:rPr lang="pt-BR" dirty="0"/>
              <a:t> descreve o caso de uso completo (referência/controle)</a:t>
            </a:r>
          </a:p>
          <a:p>
            <a:r>
              <a:rPr lang="pt-BR" dirty="0"/>
              <a:t>Várias </a:t>
            </a:r>
            <a:r>
              <a:rPr lang="pt-BR" b="1" dirty="0"/>
              <a:t>Stories</a:t>
            </a:r>
            <a:r>
              <a:rPr lang="pt-BR" dirty="0"/>
              <a:t> entregam o UC em incrementos (MVP → melhorias)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1203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628</Words>
  <Application>Microsoft Macintosh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JIRA</vt:lpstr>
      <vt:lpstr>ACESSO</vt:lpstr>
      <vt:lpstr>Passos </vt:lpstr>
      <vt:lpstr>Projeto no Jira</vt:lpstr>
      <vt:lpstr>Dentro do projeto Scrum</vt:lpstr>
      <vt:lpstr>Recomendação</vt:lpstr>
      <vt:lpstr>Epic: “Listagem e reimpressão de orçamentos”</vt:lpstr>
      <vt:lpstr>Stories (adaptando casos de uso) </vt:lpstr>
      <vt:lpstr>Tasks técnicas (se precisar)</vt:lpstr>
      <vt:lpstr>Sub-tasks por story</vt:lpstr>
      <vt:lpstr>Como isso vira Sprint (planejamento)</vt:lpstr>
      <vt:lpstr>Como encaixar “Casos de Uso” (UML) dentro do Jira</vt:lpstr>
      <vt:lpstr>Exemplo</vt:lpstr>
      <vt:lpstr>Opção 2: Caso de Uso = Task e as Stories viram “fatias”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2</cp:revision>
  <cp:lastPrinted>2026-02-19T12:04:04Z</cp:lastPrinted>
  <dcterms:created xsi:type="dcterms:W3CDTF">2026-02-18T19:22:30Z</dcterms:created>
  <dcterms:modified xsi:type="dcterms:W3CDTF">2026-02-19T12:04:08Z</dcterms:modified>
</cp:coreProperties>
</file>